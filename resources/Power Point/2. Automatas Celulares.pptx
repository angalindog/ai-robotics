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6"/>
  </p:notesMasterIdLst>
  <p:sldIdLst>
    <p:sldId id="256" r:id="rId2"/>
    <p:sldId id="320" r:id="rId3"/>
    <p:sldId id="257" r:id="rId4"/>
    <p:sldId id="289" r:id="rId5"/>
    <p:sldId id="290" r:id="rId6"/>
    <p:sldId id="291" r:id="rId7"/>
    <p:sldId id="292" r:id="rId8"/>
    <p:sldId id="293" r:id="rId9"/>
    <p:sldId id="294" r:id="rId10"/>
    <p:sldId id="298" r:id="rId11"/>
    <p:sldId id="296" r:id="rId12"/>
    <p:sldId id="297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27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0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6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1ED1135-8F0B-46C0-9596-9C922159B9C4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7509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31ED1135-8F0B-46C0-9596-9C922159B9C4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4952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6049" y="1398654"/>
            <a:ext cx="6064897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Autómatas Celulares</a:t>
            </a:r>
            <a:endParaRPr lang="en-US" sz="4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835243" y="2861304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Febrero 2026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Historia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54937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endParaRPr lang="en-US" sz="3200" dirty="0" smtClean="0"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575" y="1512061"/>
            <a:ext cx="46767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8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Historia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54937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3200" dirty="0" smtClean="0"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800" dirty="0">
                <a:latin typeface="Calibri" panose="020F0502020204030204" pitchFamily="34" charset="0"/>
              </a:rPr>
              <a:t>1940s: John von Neumann y </a:t>
            </a:r>
            <a:r>
              <a:rPr lang="es-CO" sz="2800" dirty="0" err="1">
                <a:latin typeface="Calibri" panose="020F0502020204030204" pitchFamily="34" charset="0"/>
              </a:rPr>
              <a:t>Stanisław</a:t>
            </a:r>
            <a:r>
              <a:rPr lang="es-CO" sz="2800" dirty="0">
                <a:latin typeface="Calibri" panose="020F0502020204030204" pitchFamily="34" charset="0"/>
              </a:rPr>
              <a:t> </a:t>
            </a:r>
            <a:r>
              <a:rPr lang="es-CO" sz="2800" dirty="0" err="1">
                <a:latin typeface="Calibri" panose="020F0502020204030204" pitchFamily="34" charset="0"/>
              </a:rPr>
              <a:t>Ulam</a:t>
            </a:r>
            <a:r>
              <a:rPr lang="es-CO" sz="2800" dirty="0">
                <a:latin typeface="Calibri" panose="020F0502020204030204" pitchFamily="34" charset="0"/>
              </a:rPr>
              <a:t> diseñaron el primer AC teórico.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800" dirty="0">
                <a:latin typeface="Calibri" panose="020F0502020204030204" pitchFamily="34" charset="0"/>
              </a:rPr>
              <a:t>1970s: John </a:t>
            </a:r>
            <a:r>
              <a:rPr lang="es-CO" sz="2800" dirty="0" err="1">
                <a:latin typeface="Calibri" panose="020F0502020204030204" pitchFamily="34" charset="0"/>
              </a:rPr>
              <a:t>Conway</a:t>
            </a:r>
            <a:r>
              <a:rPr lang="es-CO" sz="2800" dirty="0">
                <a:latin typeface="Calibri" panose="020F0502020204030204" pitchFamily="34" charset="0"/>
              </a:rPr>
              <a:t> desarrolló el Juego de la Vida.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800" dirty="0">
                <a:latin typeface="Calibri" panose="020F0502020204030204" pitchFamily="34" charset="0"/>
              </a:rPr>
              <a:t>1980s: Stephen </a:t>
            </a:r>
            <a:r>
              <a:rPr lang="es-CO" sz="2800" dirty="0" err="1">
                <a:latin typeface="Calibri" panose="020F0502020204030204" pitchFamily="34" charset="0"/>
              </a:rPr>
              <a:t>Wolfram</a:t>
            </a:r>
            <a:r>
              <a:rPr lang="es-CO" sz="2800" dirty="0">
                <a:latin typeface="Calibri" panose="020F0502020204030204" pitchFamily="34" charset="0"/>
              </a:rPr>
              <a:t> clasificó comportamientos de </a:t>
            </a:r>
            <a:r>
              <a:rPr lang="es-CO" sz="2800" dirty="0" err="1">
                <a:latin typeface="Calibri" panose="020F0502020204030204" pitchFamily="34" charset="0"/>
              </a:rPr>
              <a:t>ACs</a:t>
            </a:r>
            <a:r>
              <a:rPr lang="es-CO" sz="2800" dirty="0">
                <a:latin typeface="Calibri" panose="020F0502020204030204" pitchFamily="34" charset="0"/>
              </a:rPr>
              <a:t> unidimensionales.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800" dirty="0">
                <a:latin typeface="Calibri" panose="020F0502020204030204" pitchFamily="34" charset="0"/>
              </a:rPr>
              <a:t>2002: </a:t>
            </a:r>
            <a:r>
              <a:rPr lang="es-CO" sz="2800" dirty="0" err="1">
                <a:latin typeface="Calibri" panose="020F0502020204030204" pitchFamily="34" charset="0"/>
              </a:rPr>
              <a:t>Wolfram</a:t>
            </a:r>
            <a:r>
              <a:rPr lang="es-CO" sz="2800" dirty="0">
                <a:latin typeface="Calibri" panose="020F0502020204030204" pitchFamily="34" charset="0"/>
              </a:rPr>
              <a:t> publicó 'A New </a:t>
            </a:r>
            <a:r>
              <a:rPr lang="es-CO" sz="2800" dirty="0" err="1">
                <a:latin typeface="Calibri" panose="020F0502020204030204" pitchFamily="34" charset="0"/>
              </a:rPr>
              <a:t>Kind</a:t>
            </a:r>
            <a:r>
              <a:rPr lang="es-CO" sz="2800" dirty="0">
                <a:latin typeface="Calibri" panose="020F0502020204030204" pitchFamily="34" charset="0"/>
              </a:rPr>
              <a:t> of </a:t>
            </a:r>
            <a:r>
              <a:rPr lang="es-CO" sz="2800" dirty="0" err="1">
                <a:latin typeface="Calibri" panose="020F0502020204030204" pitchFamily="34" charset="0"/>
              </a:rPr>
              <a:t>Science</a:t>
            </a:r>
            <a:r>
              <a:rPr lang="es-CO" sz="2800" dirty="0">
                <a:latin typeface="Calibri" panose="020F0502020204030204" pitchFamily="34" charset="0"/>
              </a:rPr>
              <a:t>'.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620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Definición Formal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/>
              <p:nvPr/>
            </p:nvSpPr>
            <p:spPr>
              <a:xfrm>
                <a:off x="254937" y="1249495"/>
                <a:ext cx="7620166" cy="15770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342900" indent="-342900">
                  <a:lnSpc>
                    <a:spcPts val="2430"/>
                  </a:lnSpc>
                  <a:buSzPct val="100000"/>
                  <a:buChar char="•"/>
                </a:pPr>
                <a:endParaRPr lang="en-US" sz="3200" dirty="0" smtClean="0">
                  <a:latin typeface="Calibri" panose="020F0502020204030204" pitchFamily="34" charset="0"/>
                  <a:ea typeface="Arial" pitchFamily="34" charset="-122"/>
                  <a:cs typeface="Arial" pitchFamily="34" charset="-120"/>
                </a:endParaRPr>
              </a:p>
              <a:p>
                <a:r>
                  <a:rPr lang="es-CO" sz="2200" dirty="0">
                    <a:latin typeface="Calibri" panose="020F0502020204030204" pitchFamily="34" charset="0"/>
                  </a:rPr>
                  <a:t>Un autómata celular D-dimensional (o AC-D), es una secuencia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, definida por una 5-tupla,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s-CO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CO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CO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donde: </a:t>
                </a:r>
              </a:p>
              <a:p>
                <a:endParaRPr lang="es-CO" sz="2200" dirty="0">
                  <a:latin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s-CO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 es un retículo, </a:t>
                </a:r>
              </a:p>
              <a:p>
                <a14:m>
                  <m:oMath xmlns:m="http://schemas.openxmlformats.org/officeDocument/2006/math">
                    <m:r>
                      <a:rPr lang="es-CO" sz="22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es un alfabeto, que representa los estados de la celda. </a:t>
                </a:r>
              </a:p>
              <a:p>
                <a14:m>
                  <m:oMath xmlns:m="http://schemas.openxmlformats.org/officeDocument/2006/math">
                    <m:r>
                      <a:rPr lang="es-CO" sz="22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O" sz="2200" i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O" sz="22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CO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 es una secuencia finita de elementos del retículo </a:t>
                </a:r>
              </a:p>
              <a:p>
                <a14:m>
                  <m:oMath xmlns:m="http://schemas.openxmlformats.org/officeDocument/2006/math">
                    <m:r>
                      <a:rPr lang="es-CO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𝑈</m:t>
                        </m:r>
                      </m:sup>
                    </m:sSup>
                    <m:r>
                      <a:rPr lang="es-CO" sz="2200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es la función de transición o regla local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CO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CO" sz="22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s-CO" sz="22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s-CO" sz="2200" dirty="0">
                    <a:latin typeface="Calibri" panose="020F0502020204030204" pitchFamily="34" charset="0"/>
                  </a:rPr>
                  <a:t>, es alguna configuración inicial. </a:t>
                </a:r>
              </a:p>
            </p:txBody>
          </p:sp>
        </mc:Choice>
        <mc:Fallback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37" y="1249495"/>
                <a:ext cx="7620166" cy="1577082"/>
              </a:xfrm>
              <a:prstGeom prst="rect">
                <a:avLst/>
              </a:prstGeom>
              <a:blipFill rotWithShape="0">
                <a:blip r:embed="rId3"/>
                <a:stretch>
                  <a:fillRect l="-2240" r="-960" b="-121236"/>
                </a:stretch>
              </a:blipFill>
              <a:ln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7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Ejemplo AC 1D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4" y="1447800"/>
            <a:ext cx="7391918" cy="2910580"/>
          </a:xfrm>
        </p:spPr>
        <p:txBody>
          <a:bodyPr>
            <a:normAutofit/>
          </a:bodyPr>
          <a:lstStyle/>
          <a:p>
            <a:r>
              <a:rPr lang="es-CO" sz="1600" b="1" dirty="0">
                <a:latin typeface="Calibri" panose="020F0502020204030204" pitchFamily="34" charset="0"/>
              </a:rPr>
              <a:t>Retículo</a:t>
            </a:r>
            <a:r>
              <a:rPr lang="es-CO" sz="1600" dirty="0">
                <a:latin typeface="Calibri" panose="020F0502020204030204" pitchFamily="34" charset="0"/>
              </a:rPr>
              <a:t>: 𝐿 </a:t>
            </a:r>
            <a:endParaRPr lang="es-CO" sz="16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CO" sz="1600" dirty="0">
              <a:latin typeface="Calibri" panose="020F0502020204030204" pitchFamily="34" charset="0"/>
            </a:endParaRPr>
          </a:p>
          <a:p>
            <a:r>
              <a:rPr lang="es-CO" sz="1600" b="1" dirty="0" smtClean="0">
                <a:latin typeface="Calibri" panose="020F0502020204030204" pitchFamily="34" charset="0"/>
              </a:rPr>
              <a:t>Alfabeto</a:t>
            </a:r>
            <a:r>
              <a:rPr lang="es-CO" sz="1600" dirty="0">
                <a:latin typeface="Calibri" panose="020F0502020204030204" pitchFamily="34" charset="0"/>
              </a:rPr>
              <a:t>: 𝑤= {0,1} </a:t>
            </a:r>
          </a:p>
          <a:p>
            <a:r>
              <a:rPr lang="es-CO" sz="1600" b="1" dirty="0">
                <a:latin typeface="Calibri" panose="020F0502020204030204" pitchFamily="34" charset="0"/>
              </a:rPr>
              <a:t>Vecindad</a:t>
            </a:r>
            <a:r>
              <a:rPr lang="es-CO" sz="1600" dirty="0">
                <a:latin typeface="Calibri" panose="020F0502020204030204" pitchFamily="34" charset="0"/>
              </a:rPr>
              <a:t>: </a:t>
            </a:r>
            <a:r>
              <a:rPr lang="es-CO" sz="1600" dirty="0" smtClean="0">
                <a:latin typeface="Calibri" panose="020F0502020204030204" pitchFamily="34" charset="0"/>
              </a:rPr>
              <a:t>𝑈</a:t>
            </a:r>
          </a:p>
          <a:p>
            <a:r>
              <a:rPr lang="es-CO" sz="1600" b="1" dirty="0" smtClean="0">
                <a:latin typeface="Calibri" panose="020F0502020204030204" pitchFamily="34" charset="0"/>
              </a:rPr>
              <a:t>Configuración </a:t>
            </a:r>
            <a:r>
              <a:rPr lang="es-CO" sz="1600" b="1" dirty="0">
                <a:latin typeface="Calibri" panose="020F0502020204030204" pitchFamily="34" charset="0"/>
              </a:rPr>
              <a:t>inicial </a:t>
            </a:r>
            <a:r>
              <a:rPr lang="es-CO" sz="1600" dirty="0">
                <a:latin typeface="Calibri" panose="020F0502020204030204" pitchFamily="34" charset="0"/>
              </a:rPr>
              <a:t>del autómata, aleatoria: </a:t>
            </a:r>
            <a:r>
              <a:rPr lang="es-CO" sz="1600" dirty="0" smtClean="0">
                <a:latin typeface="Calibri" panose="020F0502020204030204" pitchFamily="34" charset="0"/>
              </a:rPr>
              <a:t>𝐶</a:t>
            </a:r>
            <a:r>
              <a:rPr lang="es-CO" sz="1600" dirty="0">
                <a:latin typeface="Calibri" panose="020F0502020204030204" pitchFamily="34" charset="0"/>
              </a:rPr>
              <a:t>0</a:t>
            </a:r>
            <a:r>
              <a:rPr lang="es-CO" sz="1600" dirty="0" smtClean="0">
                <a:latin typeface="Calibri" panose="020F0502020204030204" pitchFamily="34" charset="0"/>
              </a:rPr>
              <a:t>∶ 𝐿 </a:t>
            </a:r>
            <a:r>
              <a:rPr lang="es-CO" sz="1600" dirty="0">
                <a:latin typeface="Calibri" panose="020F0502020204030204" pitchFamily="34" charset="0"/>
              </a:rPr>
              <a:t>→𝑤 </a:t>
            </a:r>
            <a:endParaRPr lang="es-CO" sz="1600" dirty="0" smtClean="0">
              <a:latin typeface="Calibri" panose="020F0502020204030204" pitchFamily="34" charset="0"/>
            </a:endParaRPr>
          </a:p>
          <a:p>
            <a:endParaRPr lang="es-CO" sz="1600" dirty="0">
              <a:latin typeface="Calibri" panose="020F0502020204030204" pitchFamily="34" charset="0"/>
            </a:endParaRPr>
          </a:p>
          <a:p>
            <a:endParaRPr lang="es-CO" sz="16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CO" sz="1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Transición </a:t>
            </a:r>
            <a:r>
              <a:rPr lang="es-CO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local 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o regla de </a:t>
            </a:r>
            <a:r>
              <a:rPr lang="es-CO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comportamiento 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local: 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(𝑡+1)= 𝑓(𝑐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𝑖𝑧𝑞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(𝑡),𝑐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𝑐𝑐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(𝑡),𝑐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𝑑𝑒𝑟</a:t>
            </a:r>
            <a:r>
              <a:rPr lang="es-CO" sz="1600" dirty="0">
                <a:solidFill>
                  <a:srgbClr val="000000"/>
                </a:solidFill>
                <a:latin typeface="Calibri" panose="020F0502020204030204" pitchFamily="34" charset="0"/>
              </a:rPr>
              <a:t>(𝑡)) </a:t>
            </a:r>
            <a:endParaRPr lang="es-CO" sz="1600" dirty="0">
              <a:latin typeface="Calibri" panose="020F0502020204030204" pitchFamily="34" charset="0"/>
            </a:endParaRPr>
          </a:p>
          <a:p>
            <a:endParaRPr lang="es-CO" dirty="0" smtClean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653" y="1798321"/>
            <a:ext cx="4498200" cy="3193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653" y="2507118"/>
            <a:ext cx="758801" cy="34435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653" y="3254095"/>
            <a:ext cx="4631649" cy="34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6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Propiedades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Esenciales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377846"/>
            <a:ext cx="6447501" cy="2910580"/>
          </a:xfrm>
        </p:spPr>
        <p:txBody>
          <a:bodyPr>
            <a:noAutofit/>
          </a:bodyPr>
          <a:lstStyle/>
          <a:p>
            <a:r>
              <a:rPr lang="es-CO" sz="2000" dirty="0" smtClean="0">
                <a:latin typeface="Calibri" panose="020F0502020204030204" pitchFamily="34" charset="0"/>
              </a:rPr>
              <a:t>1. Universo: Retículo o arreglo regular.</a:t>
            </a:r>
          </a:p>
          <a:p>
            <a:r>
              <a:rPr lang="es-CO" sz="2000" dirty="0" smtClean="0">
                <a:latin typeface="Calibri" panose="020F0502020204030204" pitchFamily="34" charset="0"/>
              </a:rPr>
              <a:t>2. Dinámico: Comportamiento dinámico que describe la regla local.</a:t>
            </a:r>
          </a:p>
          <a:p>
            <a:r>
              <a:rPr lang="es-CO" sz="2000" dirty="0" smtClean="0">
                <a:latin typeface="Calibri" panose="020F0502020204030204" pitchFamily="34" charset="0"/>
              </a:rPr>
              <a:t>3. Homogeneidad: Todas las células se actualizan con la misma regla local.</a:t>
            </a:r>
          </a:p>
          <a:p>
            <a:r>
              <a:rPr lang="es-CO" sz="2000" dirty="0" smtClean="0">
                <a:latin typeface="Calibri" panose="020F0502020204030204" pitchFamily="34" charset="0"/>
              </a:rPr>
              <a:t>4. Paralelismo: El estado de todas las células se actualiza simultáneamente.</a:t>
            </a:r>
          </a:p>
          <a:p>
            <a:r>
              <a:rPr lang="es-CO" sz="2000" dirty="0" smtClean="0">
                <a:latin typeface="Calibri" panose="020F0502020204030204" pitchFamily="34" charset="0"/>
              </a:rPr>
              <a:t>5. Localidad: Las reglas son locales por naturaleza.</a:t>
            </a:r>
            <a:endParaRPr lang="es-CO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3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Vecindad AC 2D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346744"/>
            <a:ext cx="6447501" cy="2910580"/>
          </a:xfrm>
        </p:spPr>
        <p:txBody>
          <a:bodyPr/>
          <a:lstStyle/>
          <a:p>
            <a:r>
              <a:rPr sz="1600" dirty="0" err="1" smtClean="0">
                <a:latin typeface="Calibri" panose="020F0502020204030204" pitchFamily="34" charset="0"/>
              </a:rPr>
              <a:t>Vecindad</a:t>
            </a:r>
            <a:r>
              <a:rPr sz="1600" dirty="0" smtClean="0">
                <a:latin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</a:rPr>
              <a:t>de von Neumann (5 </a:t>
            </a:r>
            <a:r>
              <a:rPr sz="1600" dirty="0" err="1">
                <a:latin typeface="Calibri" panose="020F0502020204030204" pitchFamily="34" charset="0"/>
              </a:rPr>
              <a:t>vecinos</a:t>
            </a:r>
            <a:r>
              <a:rPr sz="1600" dirty="0" smtClean="0">
                <a:latin typeface="Calibri" panose="020F0502020204030204" pitchFamily="34" charset="0"/>
              </a:rPr>
              <a:t>).</a:t>
            </a:r>
            <a:endParaRPr lang="es-CO" sz="1600" dirty="0" smtClean="0">
              <a:latin typeface="Calibri" panose="020F0502020204030204" pitchFamily="34" charset="0"/>
            </a:endParaRPr>
          </a:p>
          <a:p>
            <a:endParaRPr lang="es-CO" dirty="0" smtClean="0"/>
          </a:p>
          <a:p>
            <a:endParaRPr lang="es-CO" dirty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sz="1600" dirty="0" smtClean="0">
                <a:latin typeface="Calibri" panose="020F0502020204030204" pitchFamily="34" charset="0"/>
              </a:rPr>
              <a:t>Vecindad </a:t>
            </a:r>
            <a:r>
              <a:rPr lang="es-CO" sz="1600" dirty="0">
                <a:latin typeface="Calibri" panose="020F0502020204030204" pitchFamily="34" charset="0"/>
              </a:rPr>
              <a:t>de Moore (9 vecinos) </a:t>
            </a:r>
          </a:p>
          <a:p>
            <a:endParaRPr dirty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39740" y="1685361"/>
            <a:ext cx="1221018" cy="119319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740" y="3195060"/>
            <a:ext cx="1221019" cy="123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27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Ejemplo AC 2D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153910"/>
            <a:ext cx="6447501" cy="3878399"/>
          </a:xfrm>
        </p:spPr>
        <p:txBody>
          <a:bodyPr>
            <a:normAutofit fontScale="40000" lnSpcReduction="20000"/>
          </a:bodyPr>
          <a:lstStyle/>
          <a:p>
            <a:r>
              <a:rPr lang="es-CO" sz="4400" b="1" dirty="0">
                <a:latin typeface="Calibri" panose="020F0502020204030204" pitchFamily="34" charset="0"/>
              </a:rPr>
              <a:t>Retículo</a:t>
            </a:r>
            <a:r>
              <a:rPr lang="es-CO" sz="4400" dirty="0">
                <a:latin typeface="Calibri" panose="020F0502020204030204" pitchFamily="34" charset="0"/>
              </a:rPr>
              <a:t>: 𝐿 </a:t>
            </a:r>
            <a:endParaRPr lang="es-CO" sz="44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CO" sz="4400" dirty="0">
              <a:latin typeface="Calibri" panose="020F0502020204030204" pitchFamily="34" charset="0"/>
            </a:endParaRPr>
          </a:p>
          <a:p>
            <a:r>
              <a:rPr lang="es-CO" sz="4400" b="1" dirty="0" smtClean="0">
                <a:latin typeface="Calibri" panose="020F0502020204030204" pitchFamily="34" charset="0"/>
              </a:rPr>
              <a:t>Alfabeto</a:t>
            </a:r>
            <a:r>
              <a:rPr lang="es-CO" sz="4400" dirty="0">
                <a:latin typeface="Calibri" panose="020F0502020204030204" pitchFamily="34" charset="0"/>
              </a:rPr>
              <a:t>: 𝑤= {0,1} </a:t>
            </a:r>
          </a:p>
          <a:p>
            <a:r>
              <a:rPr lang="es-CO" sz="4400" b="1" dirty="0">
                <a:latin typeface="Calibri" panose="020F0502020204030204" pitchFamily="34" charset="0"/>
              </a:rPr>
              <a:t>Vecindad</a:t>
            </a:r>
            <a:r>
              <a:rPr lang="es-CO" sz="4400" dirty="0">
                <a:latin typeface="Calibri" panose="020F0502020204030204" pitchFamily="34" charset="0"/>
              </a:rPr>
              <a:t>: </a:t>
            </a:r>
            <a:r>
              <a:rPr lang="es-CO" sz="4400" dirty="0" smtClean="0">
                <a:latin typeface="Calibri" panose="020F0502020204030204" pitchFamily="34" charset="0"/>
              </a:rPr>
              <a:t>𝑈, de Moore</a:t>
            </a:r>
          </a:p>
          <a:p>
            <a:r>
              <a:rPr lang="es-CO" sz="4400" b="1" dirty="0" smtClean="0">
                <a:latin typeface="Calibri" panose="020F0502020204030204" pitchFamily="34" charset="0"/>
              </a:rPr>
              <a:t>Configuración </a:t>
            </a:r>
            <a:r>
              <a:rPr lang="es-CO" sz="4400" b="1" dirty="0">
                <a:latin typeface="Calibri" panose="020F0502020204030204" pitchFamily="34" charset="0"/>
              </a:rPr>
              <a:t>inicial </a:t>
            </a:r>
            <a:r>
              <a:rPr lang="es-CO" sz="4400" dirty="0">
                <a:latin typeface="Calibri" panose="020F0502020204030204" pitchFamily="34" charset="0"/>
              </a:rPr>
              <a:t>del autómata, </a:t>
            </a:r>
            <a:endParaRPr lang="es-CO" sz="4400" dirty="0" smtClean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s-CO" sz="4400" dirty="0" smtClean="0">
                <a:latin typeface="Calibri" panose="020F0502020204030204" pitchFamily="34" charset="0"/>
              </a:rPr>
              <a:t>aleatoria</a:t>
            </a:r>
            <a:r>
              <a:rPr lang="es-CO" sz="4400" dirty="0">
                <a:latin typeface="Calibri" panose="020F0502020204030204" pitchFamily="34" charset="0"/>
              </a:rPr>
              <a:t>: </a:t>
            </a:r>
            <a:r>
              <a:rPr lang="es-CO" sz="4400" dirty="0" smtClean="0">
                <a:latin typeface="Calibri" panose="020F0502020204030204" pitchFamily="34" charset="0"/>
              </a:rPr>
              <a:t>𝐶</a:t>
            </a:r>
            <a:r>
              <a:rPr lang="es-CO" sz="4400" dirty="0">
                <a:latin typeface="Calibri" panose="020F0502020204030204" pitchFamily="34" charset="0"/>
              </a:rPr>
              <a:t>0</a:t>
            </a:r>
            <a:r>
              <a:rPr lang="es-CO" sz="4400" dirty="0" smtClean="0">
                <a:latin typeface="Calibri" panose="020F0502020204030204" pitchFamily="34" charset="0"/>
              </a:rPr>
              <a:t>∶ 𝐿 </a:t>
            </a:r>
            <a:r>
              <a:rPr lang="es-CO" sz="4400" dirty="0">
                <a:latin typeface="Calibri" panose="020F0502020204030204" pitchFamily="34" charset="0"/>
              </a:rPr>
              <a:t>→𝑤 </a:t>
            </a:r>
            <a:endParaRPr lang="es-CO" sz="4400" dirty="0" smtClean="0">
              <a:latin typeface="Calibri" panose="020F0502020204030204" pitchFamily="34" charset="0"/>
            </a:endParaRPr>
          </a:p>
          <a:p>
            <a:endParaRPr lang="es-CO" sz="3700" dirty="0" smtClean="0">
              <a:latin typeface="Calibri" panose="020F0502020204030204" pitchFamily="34" charset="0"/>
            </a:endParaRPr>
          </a:p>
          <a:p>
            <a:endParaRPr lang="es-CO" sz="3700" dirty="0" smtClean="0">
              <a:latin typeface="Calibri" panose="020F0502020204030204" pitchFamily="34" charset="0"/>
            </a:endParaRPr>
          </a:p>
          <a:p>
            <a:endParaRPr lang="es-CO" sz="3700" dirty="0">
              <a:latin typeface="Calibri" panose="020F0502020204030204" pitchFamily="34" charset="0"/>
            </a:endParaRPr>
          </a:p>
          <a:p>
            <a:r>
              <a:rPr lang="es-CO" sz="4800" b="1" dirty="0">
                <a:solidFill>
                  <a:srgbClr val="000000"/>
                </a:solidFill>
                <a:latin typeface="Calibri" panose="020F0502020204030204" pitchFamily="34" charset="0"/>
              </a:rPr>
              <a:t>Transición local </a:t>
            </a:r>
            <a:r>
              <a:rPr lang="es-CO" sz="4800" dirty="0">
                <a:solidFill>
                  <a:srgbClr val="000000"/>
                </a:solidFill>
                <a:latin typeface="Calibri" panose="020F0502020204030204" pitchFamily="34" charset="0"/>
              </a:rPr>
              <a:t>o regla de </a:t>
            </a:r>
            <a:r>
              <a:rPr lang="es-CO" sz="4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comportamiento </a:t>
            </a:r>
            <a:r>
              <a:rPr lang="es-CO" sz="4800" dirty="0">
                <a:solidFill>
                  <a:srgbClr val="000000"/>
                </a:solidFill>
                <a:latin typeface="Calibri" panose="020F0502020204030204" pitchFamily="34" charset="0"/>
              </a:rPr>
              <a:t>local: </a:t>
            </a:r>
            <a:endParaRPr lang="es-CO" sz="48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tabLst>
                <a:tab pos="1407319" algn="l"/>
              </a:tabLst>
            </a:pPr>
            <a:r>
              <a:rPr lang="es-CO" sz="4800" dirty="0" smtClean="0">
                <a:latin typeface="Calibri" panose="020F0502020204030204" pitchFamily="34" charset="0"/>
              </a:rPr>
              <a:t>𝑐𝑐</a:t>
            </a:r>
            <a:r>
              <a:rPr lang="es-CO" sz="4800" dirty="0">
                <a:latin typeface="Calibri" panose="020F0502020204030204" pitchFamily="34" charset="0"/>
              </a:rPr>
              <a:t>(𝑡+1)= 𝑓(𝑐𝑁(𝑡),𝑐𝑁𝐸(𝑡),𝑐𝐸(𝑡),𝑐𝑐𝑐(𝑡),𝑐𝑆𝐸(𝑡),𝑐𝑆(𝑡</a:t>
            </a:r>
            <a:r>
              <a:rPr lang="es-CO" sz="4800" dirty="0" smtClean="0">
                <a:latin typeface="Calibri" panose="020F0502020204030204" pitchFamily="34" charset="0"/>
              </a:rPr>
              <a:t>),</a:t>
            </a:r>
          </a:p>
          <a:p>
            <a:pPr marL="0" indent="0">
              <a:buNone/>
              <a:tabLst>
                <a:tab pos="1407319" algn="l"/>
              </a:tabLst>
            </a:pPr>
            <a:r>
              <a:rPr lang="es-CO" sz="4800" dirty="0" smtClean="0">
                <a:latin typeface="Calibri" panose="020F0502020204030204" pitchFamily="34" charset="0"/>
              </a:rPr>
              <a:t>𝑐𝑆𝑂</a:t>
            </a:r>
            <a:r>
              <a:rPr lang="es-CO" sz="4800" dirty="0">
                <a:latin typeface="Calibri" panose="020F0502020204030204" pitchFamily="34" charset="0"/>
              </a:rPr>
              <a:t>(𝑡),𝑐𝑂(𝑡),𝑐𝑁𝑂(𝑡)) </a:t>
            </a:r>
            <a:endParaRPr lang="es-CO" sz="4800" dirty="0" smtClean="0">
              <a:latin typeface="Calibri" panose="020F0502020204030204" pitchFamily="34" charset="0"/>
            </a:endParaRPr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162" y="1116331"/>
            <a:ext cx="2222325" cy="11323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29" y="2581341"/>
            <a:ext cx="2306942" cy="127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1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78320"/>
            <a:ext cx="6447501" cy="2910580"/>
          </a:xfrm>
        </p:spPr>
        <p:txBody>
          <a:bodyPr>
            <a:normAutofit/>
          </a:bodyPr>
          <a:lstStyle/>
          <a:p>
            <a:r>
              <a:rPr sz="1600" dirty="0">
                <a:latin typeface="Calibri" panose="020F0502020204030204" pitchFamily="34" charset="0"/>
              </a:rPr>
              <a:t>ACs 1D con r = 1 </a:t>
            </a:r>
            <a:r>
              <a:rPr sz="1600" dirty="0" err="1">
                <a:latin typeface="Calibri" panose="020F0502020204030204" pitchFamily="34" charset="0"/>
              </a:rPr>
              <a:t>tienen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</a:rPr>
              <a:t>una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</a:rPr>
              <a:t>vecindad</a:t>
            </a:r>
            <a:r>
              <a:rPr sz="1600" dirty="0">
                <a:latin typeface="Calibri" panose="020F0502020204030204" pitchFamily="34" charset="0"/>
              </a:rPr>
              <a:t> de </a:t>
            </a:r>
            <a:r>
              <a:rPr sz="1600" dirty="0" err="1">
                <a:latin typeface="Calibri" panose="020F0502020204030204" pitchFamily="34" charset="0"/>
              </a:rPr>
              <a:t>tres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</a:rPr>
              <a:t>células</a:t>
            </a:r>
            <a:r>
              <a:rPr sz="1600" dirty="0" smtClean="0">
                <a:latin typeface="Calibri" panose="020F0502020204030204" pitchFamily="34" charset="0"/>
              </a:rPr>
              <a:t>.</a:t>
            </a:r>
            <a:endParaRPr sz="1600" dirty="0">
              <a:latin typeface="Calibri" panose="020F050202020403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294" y="1973119"/>
            <a:ext cx="3210684" cy="250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9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265879"/>
            <a:ext cx="6447501" cy="2910580"/>
          </a:xfrm>
        </p:spPr>
        <p:txBody>
          <a:bodyPr/>
          <a:lstStyle/>
          <a:p>
            <a:r>
              <a:rPr sz="1600" dirty="0" smtClean="0">
                <a:latin typeface="Calibri" panose="020F0502020204030204" pitchFamily="34" charset="0"/>
              </a:rPr>
              <a:t>Stephen </a:t>
            </a:r>
            <a:r>
              <a:rPr sz="1600" dirty="0">
                <a:latin typeface="Calibri" panose="020F0502020204030204" pitchFamily="34" charset="0"/>
              </a:rPr>
              <a:t>Wolfram </a:t>
            </a:r>
            <a:r>
              <a:rPr sz="1600" dirty="0" err="1">
                <a:latin typeface="Calibri" panose="020F0502020204030204" pitchFamily="34" charset="0"/>
              </a:rPr>
              <a:t>estudió</a:t>
            </a:r>
            <a:r>
              <a:rPr sz="1600" dirty="0">
                <a:latin typeface="Calibri" panose="020F0502020204030204" pitchFamily="34" charset="0"/>
              </a:rPr>
              <a:t> 256 </a:t>
            </a:r>
            <a:r>
              <a:rPr sz="1600" dirty="0" err="1">
                <a:latin typeface="Calibri" panose="020F0502020204030204" pitchFamily="34" charset="0"/>
              </a:rPr>
              <a:t>reglas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</a:rPr>
              <a:t>diferentes</a:t>
            </a:r>
            <a:r>
              <a:rPr sz="1600" dirty="0">
                <a:latin typeface="Calibri" panose="020F0502020204030204" pitchFamily="34" charset="0"/>
              </a:rPr>
              <a:t> para ACs 1D</a:t>
            </a:r>
            <a:r>
              <a:rPr sz="1600" dirty="0" smtClean="0">
                <a:latin typeface="Calibri" panose="020F0502020204030204" pitchFamily="34" charset="0"/>
              </a:rPr>
              <a:t>.</a:t>
            </a:r>
            <a:endParaRPr lang="es-CO" sz="1600" dirty="0" smtClean="0">
              <a:latin typeface="Calibri" panose="020F0502020204030204" pitchFamily="34" charset="0"/>
            </a:endParaRPr>
          </a:p>
          <a:p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86" y="1853741"/>
            <a:ext cx="3570901" cy="269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3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Regla 30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665" y="1447800"/>
            <a:ext cx="3979359" cy="298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1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1800" dirty="0" smtClean="0">
                <a:latin typeface="Calibri" panose="020F0502020204030204" pitchFamily="34" charset="0"/>
              </a:rPr>
              <a:t>Ejemplo</a:t>
            </a:r>
          </a:p>
          <a:p>
            <a:r>
              <a:rPr lang="es-CO" sz="1800" dirty="0" smtClean="0">
                <a:latin typeface="Calibri" panose="020F0502020204030204" pitchFamily="34" charset="0"/>
              </a:rPr>
              <a:t>Utilizando la regla 30, encuentre el AC para t =1, t = 2 y </a:t>
            </a:r>
            <a:r>
              <a:rPr lang="es-CO" sz="1800" dirty="0">
                <a:latin typeface="Calibri" panose="020F0502020204030204" pitchFamily="34" charset="0"/>
              </a:rPr>
              <a:t>t</a:t>
            </a:r>
            <a:r>
              <a:rPr lang="es-CO" sz="1800" dirty="0" smtClean="0">
                <a:latin typeface="Calibri" panose="020F0502020204030204" pitchFamily="34" charset="0"/>
              </a:rPr>
              <a:t> </a:t>
            </a:r>
            <a:r>
              <a:rPr lang="es-CO" sz="1800" dirty="0">
                <a:latin typeface="Calibri" panose="020F0502020204030204" pitchFamily="34" charset="0"/>
              </a:rPr>
              <a:t>=</a:t>
            </a:r>
            <a:r>
              <a:rPr lang="es-CO" sz="1800" dirty="0" smtClean="0">
                <a:latin typeface="Calibri" panose="020F0502020204030204" pitchFamily="34" charset="0"/>
              </a:rPr>
              <a:t> 3</a:t>
            </a:r>
          </a:p>
          <a:p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44" y="2571637"/>
            <a:ext cx="3662601" cy="81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290761"/>
            <a:ext cx="6447501" cy="2910580"/>
          </a:xfrm>
        </p:spPr>
        <p:txBody>
          <a:bodyPr>
            <a:normAutofit/>
          </a:bodyPr>
          <a:lstStyle/>
          <a:p>
            <a:r>
              <a:rPr lang="es-CO" sz="1600" dirty="0" err="1" smtClean="0">
                <a:latin typeface="Calibri" panose="020F0502020204030204" pitchFamily="34" charset="0"/>
              </a:rPr>
              <a:t>NetLogo</a:t>
            </a:r>
            <a:endParaRPr lang="es-CO" sz="1600" dirty="0" smtClean="0">
              <a:latin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863" y="1855255"/>
            <a:ext cx="2275596" cy="21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5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Comportamientos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Wolfram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160132"/>
            <a:ext cx="6447501" cy="2910580"/>
          </a:xfrm>
        </p:spPr>
        <p:txBody>
          <a:bodyPr/>
          <a:lstStyle/>
          <a:p>
            <a:pPr algn="just"/>
            <a:r>
              <a:rPr sz="1600" dirty="0" err="1">
                <a:latin typeface="Calibri" panose="020F0502020204030204" pitchFamily="34" charset="0"/>
              </a:rPr>
              <a:t>Clase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smtClean="0">
                <a:latin typeface="Calibri" panose="020F0502020204030204" pitchFamily="34" charset="0"/>
              </a:rPr>
              <a:t>I: </a:t>
            </a:r>
            <a:r>
              <a:rPr sz="1600" dirty="0" err="1" smtClean="0">
                <a:latin typeface="Calibri" panose="020F0502020204030204" pitchFamily="34" charset="0"/>
              </a:rPr>
              <a:t>Patrones</a:t>
            </a:r>
            <a:r>
              <a:rPr sz="1600" dirty="0" smtClean="0">
                <a:latin typeface="Calibri" panose="020F0502020204030204" pitchFamily="34" charset="0"/>
              </a:rPr>
              <a:t> </a:t>
            </a:r>
            <a:r>
              <a:rPr sz="1600" dirty="0" err="1" smtClean="0">
                <a:latin typeface="Calibri" panose="020F0502020204030204" pitchFamily="34" charset="0"/>
              </a:rPr>
              <a:t>homogéne</a:t>
            </a:r>
            <a:r>
              <a:rPr lang="es-CO" sz="1600" dirty="0" smtClean="0">
                <a:latin typeface="Calibri" panose="020F0502020204030204" pitchFamily="34" charset="0"/>
              </a:rPr>
              <a:t>os globales</a:t>
            </a:r>
            <a:r>
              <a:rPr lang="es-CO" sz="1600" dirty="0">
                <a:latin typeface="Calibri" panose="020F0502020204030204" pitchFamily="34" charset="0"/>
              </a:rPr>
              <a:t>. Cada célula termina quedándose en el mismo estado indefinidamente. T</a:t>
            </a:r>
            <a:r>
              <a:rPr lang="es-CO" sz="1600" dirty="0" smtClean="0">
                <a:latin typeface="Calibri" panose="020F0502020204030204" pitchFamily="34" charset="0"/>
              </a:rPr>
              <a:t>ienen </a:t>
            </a:r>
            <a:r>
              <a:rPr lang="es-CO" sz="1600" dirty="0">
                <a:latin typeface="Calibri" panose="020F0502020204030204" pitchFamily="34" charset="0"/>
              </a:rPr>
              <a:t>un orden perfecto. R</a:t>
            </a:r>
            <a:r>
              <a:rPr lang="es-CO" sz="1600" dirty="0" smtClean="0">
                <a:latin typeface="Calibri" panose="020F0502020204030204" pitchFamily="34" charset="0"/>
              </a:rPr>
              <a:t>eglas </a:t>
            </a:r>
            <a:r>
              <a:rPr lang="es-CO" sz="1600" dirty="0">
                <a:latin typeface="Calibri" panose="020F0502020204030204" pitchFamily="34" charset="0"/>
              </a:rPr>
              <a:t>0, 32, 160, 249. </a:t>
            </a:r>
          </a:p>
          <a:p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08" y="2187992"/>
            <a:ext cx="2293055" cy="260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41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Comportamientos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Wolfram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272099"/>
            <a:ext cx="6447501" cy="2910580"/>
          </a:xfrm>
        </p:spPr>
        <p:txBody>
          <a:bodyPr/>
          <a:lstStyle/>
          <a:p>
            <a:pPr algn="just"/>
            <a:r>
              <a:rPr sz="1600" dirty="0" err="1" smtClean="0">
                <a:latin typeface="Calibri" panose="020F0502020204030204" pitchFamily="34" charset="0"/>
              </a:rPr>
              <a:t>Clase</a:t>
            </a:r>
            <a:r>
              <a:rPr sz="1600" dirty="0" smtClean="0">
                <a:latin typeface="Calibri" panose="020F0502020204030204" pitchFamily="34" charset="0"/>
              </a:rPr>
              <a:t> II: </a:t>
            </a:r>
            <a:r>
              <a:rPr sz="1600" dirty="0" err="1" smtClean="0">
                <a:latin typeface="Calibri" panose="020F0502020204030204" pitchFamily="34" charset="0"/>
              </a:rPr>
              <a:t>Estructuras</a:t>
            </a:r>
            <a:r>
              <a:rPr sz="1600" dirty="0" smtClean="0">
                <a:latin typeface="Calibri" panose="020F0502020204030204" pitchFamily="34" charset="0"/>
              </a:rPr>
              <a:t> </a:t>
            </a:r>
            <a:r>
              <a:rPr sz="1600" dirty="0" err="1" smtClean="0">
                <a:latin typeface="Calibri" panose="020F0502020204030204" pitchFamily="34" charset="0"/>
              </a:rPr>
              <a:t>periódicas</a:t>
            </a:r>
            <a:r>
              <a:rPr sz="1600" dirty="0" smtClean="0">
                <a:latin typeface="Calibri" panose="020F0502020204030204" pitchFamily="34" charset="0"/>
              </a:rPr>
              <a:t>.</a:t>
            </a:r>
            <a:r>
              <a:rPr lang="es-CO" sz="1600" dirty="0">
                <a:latin typeface="Calibri" panose="020F0502020204030204" pitchFamily="34" charset="0"/>
              </a:rPr>
              <a:t> C</a:t>
            </a:r>
            <a:r>
              <a:rPr lang="es-CO" sz="1600" dirty="0" smtClean="0">
                <a:latin typeface="Calibri" panose="020F0502020204030204" pitchFamily="34" charset="0"/>
              </a:rPr>
              <a:t>onvergen a estados periódicos que se repiten. Hay orden, aunque recorren rutas periódicas. Reglas 4, 108, 218 y 150. </a:t>
            </a:r>
          </a:p>
          <a:p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1992498"/>
            <a:ext cx="2508865" cy="288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56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Comportamientos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Wolfram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178793"/>
            <a:ext cx="6447501" cy="2910580"/>
          </a:xfrm>
        </p:spPr>
        <p:txBody>
          <a:bodyPr/>
          <a:lstStyle/>
          <a:p>
            <a:pPr algn="just"/>
            <a:r>
              <a:rPr sz="1600" dirty="0" err="1" smtClean="0">
                <a:latin typeface="Calibri" panose="020F0502020204030204" pitchFamily="34" charset="0"/>
              </a:rPr>
              <a:t>Clase</a:t>
            </a:r>
            <a:r>
              <a:rPr sz="1600" dirty="0" smtClean="0">
                <a:latin typeface="Calibri" panose="020F0502020204030204" pitchFamily="34" charset="0"/>
              </a:rPr>
              <a:t> </a:t>
            </a:r>
            <a:r>
              <a:rPr sz="1600" dirty="0">
                <a:latin typeface="Calibri" panose="020F0502020204030204" pitchFamily="34" charset="0"/>
              </a:rPr>
              <a:t>III: </a:t>
            </a:r>
            <a:r>
              <a:rPr sz="1600" dirty="0" err="1">
                <a:latin typeface="Calibri" panose="020F0502020204030204" pitchFamily="34" charset="0"/>
              </a:rPr>
              <a:t>Naturaleza</a:t>
            </a:r>
            <a:r>
              <a:rPr sz="1600" dirty="0">
                <a:latin typeface="Calibri" panose="020F0502020204030204" pitchFamily="34" charset="0"/>
              </a:rPr>
              <a:t> </a:t>
            </a:r>
            <a:r>
              <a:rPr sz="1600" dirty="0" err="1" smtClean="0">
                <a:latin typeface="Calibri" panose="020F0502020204030204" pitchFamily="34" charset="0"/>
              </a:rPr>
              <a:t>caótica</a:t>
            </a:r>
            <a:r>
              <a:rPr sz="1600" dirty="0" smtClean="0">
                <a:latin typeface="Calibri" panose="020F0502020204030204" pitchFamily="34" charset="0"/>
              </a:rPr>
              <a:t>.</a:t>
            </a:r>
            <a:r>
              <a:rPr lang="es-CO" sz="1600" dirty="0">
                <a:latin typeface="Calibri" panose="020F0502020204030204" pitchFamily="34" charset="0"/>
              </a:rPr>
              <a:t> </a:t>
            </a:r>
            <a:r>
              <a:rPr lang="es-CO" sz="1600" dirty="0" smtClean="0">
                <a:latin typeface="Calibri" panose="020F0502020204030204" pitchFamily="34" charset="0"/>
              </a:rPr>
              <a:t>Producen </a:t>
            </a:r>
            <a:r>
              <a:rPr lang="es-CO" sz="1600" dirty="0">
                <a:latin typeface="Calibri" panose="020F0502020204030204" pitchFamily="34" charset="0"/>
              </a:rPr>
              <a:t>diseños aleatorios, no </a:t>
            </a:r>
            <a:r>
              <a:rPr lang="es-CO" sz="1600" dirty="0" smtClean="0">
                <a:latin typeface="Calibri" panose="020F0502020204030204" pitchFamily="34" charset="0"/>
              </a:rPr>
              <a:t>un </a:t>
            </a:r>
            <a:r>
              <a:rPr lang="es-CO" sz="1600" dirty="0">
                <a:latin typeface="Calibri" panose="020F0502020204030204" pitchFamily="34" charset="0"/>
              </a:rPr>
              <a:t>orden. R</a:t>
            </a:r>
            <a:r>
              <a:rPr lang="es-CO" sz="1600" dirty="0" smtClean="0">
                <a:latin typeface="Calibri" panose="020F0502020204030204" pitchFamily="34" charset="0"/>
              </a:rPr>
              <a:t>eglas </a:t>
            </a:r>
            <a:r>
              <a:rPr lang="es-CO" sz="1600" dirty="0">
                <a:latin typeface="Calibri" panose="020F0502020204030204" pitchFamily="34" charset="0"/>
              </a:rPr>
              <a:t>22, 30 y 126. </a:t>
            </a:r>
          </a:p>
          <a:p>
            <a:pPr marL="0" indent="0">
              <a:buNone/>
            </a:pPr>
            <a:endParaRPr lang="es-CO" dirty="0"/>
          </a:p>
          <a:p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1836296"/>
            <a:ext cx="2669527" cy="306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73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Comportamientos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Wolfram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47691"/>
            <a:ext cx="6447501" cy="2910580"/>
          </a:xfrm>
        </p:spPr>
        <p:txBody>
          <a:bodyPr>
            <a:normAutofit/>
          </a:bodyPr>
          <a:lstStyle/>
          <a:p>
            <a:pPr algn="just"/>
            <a:r>
              <a:rPr sz="1600" dirty="0" err="1" smtClean="0">
                <a:latin typeface="Calibri" panose="020F0502020204030204" pitchFamily="34" charset="0"/>
              </a:rPr>
              <a:t>Clase</a:t>
            </a:r>
            <a:r>
              <a:rPr sz="1600" dirty="0" smtClean="0">
                <a:latin typeface="Calibri" panose="020F0502020204030204" pitchFamily="34" charset="0"/>
              </a:rPr>
              <a:t> IV: </a:t>
            </a:r>
            <a:r>
              <a:rPr sz="1600" dirty="0" err="1" smtClean="0">
                <a:latin typeface="Calibri" panose="020F0502020204030204" pitchFamily="34" charset="0"/>
              </a:rPr>
              <a:t>Estructuras</a:t>
            </a:r>
            <a:r>
              <a:rPr sz="1600" dirty="0" smtClean="0">
                <a:latin typeface="Calibri" panose="020F0502020204030204" pitchFamily="34" charset="0"/>
              </a:rPr>
              <a:t> </a:t>
            </a:r>
            <a:r>
              <a:rPr sz="1600" dirty="0" err="1" smtClean="0">
                <a:latin typeface="Calibri" panose="020F0502020204030204" pitchFamily="34" charset="0"/>
              </a:rPr>
              <a:t>complejas</a:t>
            </a:r>
            <a:r>
              <a:rPr sz="1600" dirty="0" smtClean="0">
                <a:latin typeface="Calibri" panose="020F0502020204030204" pitchFamily="34" charset="0"/>
              </a:rPr>
              <a:t> y </a:t>
            </a:r>
            <a:r>
              <a:rPr sz="1600" dirty="0" err="1" smtClean="0">
                <a:latin typeface="Calibri" panose="020F0502020204030204" pitchFamily="34" charset="0"/>
              </a:rPr>
              <a:t>localizadas</a:t>
            </a:r>
            <a:r>
              <a:rPr sz="1600" dirty="0" smtClean="0">
                <a:latin typeface="Calibri" panose="020F0502020204030204" pitchFamily="34" charset="0"/>
              </a:rPr>
              <a:t>.</a:t>
            </a:r>
            <a:endParaRPr lang="es-CO" sz="1600" dirty="0">
              <a:latin typeface="Calibri" panose="020F0502020204030204" pitchFamily="34" charset="0"/>
            </a:endParaRPr>
          </a:p>
          <a:p>
            <a:pPr algn="just"/>
            <a:r>
              <a:rPr lang="es-CO" sz="1600" dirty="0" smtClean="0">
                <a:latin typeface="Calibri" panose="020F0502020204030204" pitchFamily="34" charset="0"/>
              </a:rPr>
              <a:t>Las "</a:t>
            </a:r>
            <a:r>
              <a:rPr lang="es-CO" sz="1600" dirty="0">
                <a:latin typeface="Calibri" panose="020F0502020204030204" pitchFamily="34" charset="0"/>
              </a:rPr>
              <a:t>migran" dentro del diseño principal. Dependiendo de la configuración inicial, los </a:t>
            </a:r>
            <a:r>
              <a:rPr lang="es-CO" sz="1600" dirty="0" err="1" smtClean="0">
                <a:latin typeface="Calibri" panose="020F0502020204030204" pitchFamily="34" charset="0"/>
              </a:rPr>
              <a:t>ACs</a:t>
            </a:r>
            <a:r>
              <a:rPr lang="es-CO" sz="1600" dirty="0" smtClean="0">
                <a:latin typeface="Calibri" panose="020F0502020204030204" pitchFamily="34" charset="0"/>
              </a:rPr>
              <a:t> </a:t>
            </a:r>
            <a:r>
              <a:rPr lang="es-CO" sz="1600" dirty="0">
                <a:latin typeface="Calibri" panose="020F0502020204030204" pitchFamily="34" charset="0"/>
              </a:rPr>
              <a:t>de la Clase IV se resuelven </a:t>
            </a:r>
            <a:r>
              <a:rPr lang="es-CO" sz="1600" dirty="0" smtClean="0">
                <a:latin typeface="Calibri" panose="020F0502020204030204" pitchFamily="34" charset="0"/>
              </a:rPr>
              <a:t>en Clase </a:t>
            </a:r>
            <a:r>
              <a:rPr lang="es-CO" sz="1600" dirty="0">
                <a:latin typeface="Calibri" panose="020F0502020204030204" pitchFamily="34" charset="0"/>
              </a:rPr>
              <a:t>I o Clase II. R</a:t>
            </a:r>
            <a:r>
              <a:rPr lang="es-CO" sz="1600" dirty="0" smtClean="0">
                <a:latin typeface="Calibri" panose="020F0502020204030204" pitchFamily="34" charset="0"/>
              </a:rPr>
              <a:t>eglas </a:t>
            </a:r>
            <a:r>
              <a:rPr lang="es-CO" sz="1600" dirty="0">
                <a:latin typeface="Calibri" panose="020F0502020204030204" pitchFamily="34" charset="0"/>
              </a:rPr>
              <a:t>54 y 110.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63" y="2138291"/>
            <a:ext cx="2459650" cy="285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3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Comportamientos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Wolfram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Las </a:t>
            </a:r>
            <a:r>
              <a:rPr lang="es-CO" sz="1800" dirty="0">
                <a:latin typeface="Calibri" panose="020F0502020204030204" pitchFamily="34" charset="0"/>
              </a:rPr>
              <a:t>clases I y III no son interesantes, mientras que las clases II y IV tienen propiedades muy interesantes.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Se </a:t>
            </a:r>
            <a:r>
              <a:rPr lang="es-CO" sz="1800" dirty="0">
                <a:latin typeface="Calibri" panose="020F0502020204030204" pitchFamily="34" charset="0"/>
              </a:rPr>
              <a:t>supone que la vida requiere orden para almacenar experiencia y caos para interactuar con el ambiente. Es por esto que se dice que la vida está al borde del caos, debe tener un orden mínimo para almacenar experiencia y manejar el caos para adquirir esa experiencia.</a:t>
            </a:r>
          </a:p>
        </p:txBody>
      </p:sp>
    </p:spTree>
    <p:extLst>
      <p:ext uri="{BB962C8B-B14F-4D97-AF65-F5344CB8AC3E}">
        <p14:creationId xmlns:p14="http://schemas.microsoft.com/office/powerpoint/2010/main" val="3021393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2D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>
                <a:latin typeface="Calibri" panose="020F0502020204030204" pitchFamily="34" charset="0"/>
              </a:rPr>
              <a:t>Los ACs 2D </a:t>
            </a:r>
            <a:r>
              <a:rPr sz="1800" dirty="0" err="1">
                <a:latin typeface="Calibri" panose="020F0502020204030204" pitchFamily="34" charset="0"/>
              </a:rPr>
              <a:t>permiten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manejar</a:t>
            </a:r>
            <a:r>
              <a:rPr sz="1800" dirty="0">
                <a:latin typeface="Calibri" panose="020F0502020204030204" pitchFamily="34" charset="0"/>
              </a:rPr>
              <a:t> un gran </a:t>
            </a:r>
            <a:r>
              <a:rPr sz="1800" dirty="0" err="1">
                <a:latin typeface="Calibri" panose="020F0502020204030204" pitchFamily="34" charset="0"/>
              </a:rPr>
              <a:t>nivel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complejidad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LIFE de Conway, que </a:t>
            </a:r>
            <a:r>
              <a:rPr sz="1800" dirty="0" err="1">
                <a:latin typeface="Calibri" panose="020F0502020204030204" pitchFamily="34" charset="0"/>
              </a:rPr>
              <a:t>simula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comportamientos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emergencia</a:t>
            </a:r>
            <a:r>
              <a:rPr sz="1800" dirty="0">
                <a:latin typeface="Calibri" panose="020F0502020204030204" pitchFamily="34" charset="0"/>
              </a:rPr>
              <a:t> y auto-</a:t>
            </a:r>
            <a:r>
              <a:rPr sz="1800" dirty="0" err="1">
                <a:latin typeface="Calibri" panose="020F0502020204030204" pitchFamily="34" charset="0"/>
              </a:rPr>
              <a:t>organización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83" y="2737272"/>
            <a:ext cx="3025587" cy="208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16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LIFE de Conway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Desarrollado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por</a:t>
            </a:r>
            <a:r>
              <a:rPr sz="1800" dirty="0">
                <a:latin typeface="Calibri" panose="020F0502020204030204" pitchFamily="34" charset="0"/>
              </a:rPr>
              <a:t> John Conway a finales de </a:t>
            </a:r>
            <a:r>
              <a:rPr sz="1800" dirty="0" err="1">
                <a:latin typeface="Calibri" panose="020F0502020204030204" pitchFamily="34" charset="0"/>
              </a:rPr>
              <a:t>los</a:t>
            </a:r>
            <a:r>
              <a:rPr sz="1800" dirty="0">
                <a:latin typeface="Calibri" panose="020F0502020204030204" pitchFamily="34" charset="0"/>
              </a:rPr>
              <a:t> 1960s.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Usa</a:t>
            </a:r>
            <a:r>
              <a:rPr sz="1800" dirty="0">
                <a:latin typeface="Calibri" panose="020F0502020204030204" pitchFamily="34" charset="0"/>
              </a:rPr>
              <a:t> dos </a:t>
            </a:r>
            <a:r>
              <a:rPr sz="1800" dirty="0" err="1">
                <a:latin typeface="Calibri" panose="020F0502020204030204" pitchFamily="34" charset="0"/>
              </a:rPr>
              <a:t>estados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muerto</a:t>
            </a:r>
            <a:r>
              <a:rPr sz="1800" dirty="0">
                <a:latin typeface="Calibri" panose="020F0502020204030204" pitchFamily="34" charset="0"/>
              </a:rPr>
              <a:t> o vivo.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Cuatro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reglas</a:t>
            </a:r>
            <a:r>
              <a:rPr sz="1800" dirty="0">
                <a:latin typeface="Calibri" panose="020F0502020204030204" pitchFamily="34" charset="0"/>
              </a:rPr>
              <a:t> simples para </a:t>
            </a:r>
            <a:r>
              <a:rPr sz="1800" dirty="0" err="1">
                <a:latin typeface="Calibri" panose="020F0502020204030204" pitchFamily="34" charset="0"/>
              </a:rPr>
              <a:t>determinar</a:t>
            </a:r>
            <a:r>
              <a:rPr sz="1800" dirty="0">
                <a:latin typeface="Calibri" panose="020F0502020204030204" pitchFamily="34" charset="0"/>
              </a:rPr>
              <a:t> el </a:t>
            </a:r>
            <a:r>
              <a:rPr sz="1800" dirty="0" err="1">
                <a:latin typeface="Calibri" panose="020F0502020204030204" pitchFamily="34" charset="0"/>
              </a:rPr>
              <a:t>estado</a:t>
            </a:r>
            <a:r>
              <a:rPr sz="1800" dirty="0">
                <a:latin typeface="Calibri" panose="020F0502020204030204" pitchFamily="34" charset="0"/>
              </a:rPr>
              <a:t> de las </a:t>
            </a:r>
            <a:r>
              <a:rPr sz="1800" dirty="0" err="1">
                <a:latin typeface="Calibri" panose="020F0502020204030204" pitchFamily="34" charset="0"/>
              </a:rPr>
              <a:t>células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3761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LIFE de Conway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Reglas: </a:t>
            </a:r>
            <a:endParaRPr lang="es-CO" sz="1800" dirty="0">
              <a:latin typeface="Calibri" panose="020F0502020204030204" pitchFamily="34" charset="0"/>
            </a:endParaRP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Si </a:t>
            </a:r>
            <a:r>
              <a:rPr lang="es-CO" sz="1800" dirty="0">
                <a:latin typeface="Calibri" panose="020F0502020204030204" pitchFamily="34" charset="0"/>
              </a:rPr>
              <a:t>una célula viva tiene menos de dos vecinos vivos, se muere. Soledad.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Si </a:t>
            </a:r>
            <a:r>
              <a:rPr lang="es-CO" sz="1800" dirty="0">
                <a:latin typeface="Calibri" panose="020F0502020204030204" pitchFamily="34" charset="0"/>
              </a:rPr>
              <a:t>una célula viva tiene dos o tres vecinos, sigue viva. Felicidad.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Si </a:t>
            </a:r>
            <a:r>
              <a:rPr lang="es-CO" sz="1800" dirty="0">
                <a:latin typeface="Calibri" panose="020F0502020204030204" pitchFamily="34" charset="0"/>
              </a:rPr>
              <a:t>una célula viva tiene más de tres vecinos, se muere. Sobrepoblación.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Si </a:t>
            </a:r>
            <a:r>
              <a:rPr lang="es-CO" sz="1800" dirty="0">
                <a:latin typeface="Calibri" panose="020F0502020204030204" pitchFamily="34" charset="0"/>
              </a:rPr>
              <a:t>una célula muerta tiene exactamente tres vecinos, nace. Reproducción. </a:t>
            </a:r>
          </a:p>
        </p:txBody>
      </p:sp>
    </p:spTree>
    <p:extLst>
      <p:ext uri="{BB962C8B-B14F-4D97-AF65-F5344CB8AC3E}">
        <p14:creationId xmlns:p14="http://schemas.microsoft.com/office/powerpoint/2010/main" val="2409227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Probabilísticos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Reglas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permiten</a:t>
            </a:r>
            <a:r>
              <a:rPr sz="1800" dirty="0">
                <a:latin typeface="Calibri" panose="020F0502020204030204" pitchFamily="34" charset="0"/>
              </a:rPr>
              <a:t> el </a:t>
            </a:r>
            <a:r>
              <a:rPr sz="1800" dirty="0" err="1">
                <a:latin typeface="Calibri" panose="020F0502020204030204" pitchFamily="34" charset="0"/>
              </a:rPr>
              <a:t>cambio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estado</a:t>
            </a:r>
            <a:r>
              <a:rPr sz="1800" dirty="0">
                <a:latin typeface="Calibri" panose="020F0502020204030204" pitchFamily="34" charset="0"/>
              </a:rPr>
              <a:t> de un </a:t>
            </a:r>
            <a:r>
              <a:rPr sz="1800" dirty="0" err="1">
                <a:latin typeface="Calibri" panose="020F0502020204030204" pitchFamily="34" charset="0"/>
              </a:rPr>
              <a:t>autómata</a:t>
            </a:r>
            <a:r>
              <a:rPr sz="1800" dirty="0">
                <a:latin typeface="Calibri" panose="020F0502020204030204" pitchFamily="34" charset="0"/>
              </a:rPr>
              <a:t> con base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una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probabilidad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Simulación</a:t>
            </a:r>
            <a:r>
              <a:rPr sz="1800" dirty="0">
                <a:latin typeface="Calibri" panose="020F0502020204030204" pitchFamily="34" charset="0"/>
              </a:rPr>
              <a:t> de la </a:t>
            </a:r>
            <a:r>
              <a:rPr sz="1800" dirty="0" err="1">
                <a:latin typeface="Calibri" panose="020F0502020204030204" pitchFamily="34" charset="0"/>
              </a:rPr>
              <a:t>difusión</a:t>
            </a:r>
            <a:r>
              <a:rPr sz="1800" dirty="0">
                <a:latin typeface="Calibri" panose="020F0502020204030204" pitchFamily="34" charset="0"/>
              </a:rPr>
              <a:t> de un virus </a:t>
            </a:r>
            <a:r>
              <a:rPr sz="1800" dirty="0" err="1">
                <a:latin typeface="Calibri" panose="020F0502020204030204" pitchFamily="34" charset="0"/>
              </a:rPr>
              <a:t>como</a:t>
            </a:r>
            <a:r>
              <a:rPr sz="1800" dirty="0">
                <a:latin typeface="Calibri" panose="020F0502020204030204" pitchFamily="34" charset="0"/>
              </a:rPr>
              <a:t> el COVID-19.</a:t>
            </a:r>
          </a:p>
        </p:txBody>
      </p:sp>
    </p:spTree>
    <p:extLst>
      <p:ext uri="{BB962C8B-B14F-4D97-AF65-F5344CB8AC3E}">
        <p14:creationId xmlns:p14="http://schemas.microsoft.com/office/powerpoint/2010/main" val="3422700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Probabilísticos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sz="1900" dirty="0" smtClean="0">
                <a:latin typeface="Calibri" panose="020F0502020204030204" pitchFamily="34" charset="0"/>
              </a:rPr>
              <a:t>COVID-19.</a:t>
            </a:r>
            <a:endParaRPr lang="es-CO" sz="1900" dirty="0" smtClean="0">
              <a:latin typeface="Calibri" panose="020F0502020204030204" pitchFamily="34" charset="0"/>
            </a:endParaRPr>
          </a:p>
          <a:p>
            <a:pPr algn="just"/>
            <a:r>
              <a:rPr lang="es-CO" sz="1900" dirty="0" smtClean="0">
                <a:latin typeface="Calibri" panose="020F0502020204030204" pitchFamily="34" charset="0"/>
              </a:rPr>
              <a:t>Un AC 2D de 10.000 </a:t>
            </a:r>
            <a:r>
              <a:rPr lang="es-CO" sz="1900" dirty="0">
                <a:latin typeface="Calibri" panose="020F0502020204030204" pitchFamily="34" charset="0"/>
              </a:rPr>
              <a:t>Celdas; y que w = {Np, </a:t>
            </a:r>
            <a:r>
              <a:rPr lang="es-CO" sz="1900" dirty="0" err="1">
                <a:latin typeface="Calibri" panose="020F0502020204030204" pitchFamily="34" charset="0"/>
              </a:rPr>
              <a:t>Ps</a:t>
            </a:r>
            <a:r>
              <a:rPr lang="es-CO" sz="1900" dirty="0">
                <a:latin typeface="Calibri" panose="020F0502020204030204" pitchFamily="34" charset="0"/>
              </a:rPr>
              <a:t>, Cs, </a:t>
            </a:r>
            <a:r>
              <a:rPr lang="es-CO" sz="1900" dirty="0" err="1">
                <a:latin typeface="Calibri" panose="020F0502020204030204" pitchFamily="34" charset="0"/>
              </a:rPr>
              <a:t>Cns</a:t>
            </a:r>
            <a:r>
              <a:rPr lang="es-CO" sz="1900" dirty="0">
                <a:latin typeface="Calibri" panose="020F0502020204030204" pitchFamily="34" charset="0"/>
              </a:rPr>
              <a:t>, </a:t>
            </a:r>
            <a:r>
              <a:rPr lang="es-CO" sz="1900" dirty="0" err="1">
                <a:latin typeface="Calibri" panose="020F0502020204030204" pitchFamily="34" charset="0"/>
              </a:rPr>
              <a:t>Ct</a:t>
            </a:r>
            <a:r>
              <a:rPr lang="es-CO" sz="1900" dirty="0">
                <a:latin typeface="Calibri" panose="020F0502020204030204" pitchFamily="34" charset="0"/>
              </a:rPr>
              <a:t>, </a:t>
            </a:r>
            <a:r>
              <a:rPr lang="es-CO" sz="1900" dirty="0" err="1">
                <a:latin typeface="Calibri" panose="020F0502020204030204" pitchFamily="34" charset="0"/>
              </a:rPr>
              <a:t>Pac</a:t>
            </a:r>
            <a:r>
              <a:rPr lang="es-CO" sz="1900" dirty="0">
                <a:latin typeface="Calibri" panose="020F0502020204030204" pitchFamily="34" charset="0"/>
              </a:rPr>
              <a:t>}, donde: </a:t>
            </a:r>
          </a:p>
          <a:p>
            <a:pPr algn="just"/>
            <a:r>
              <a:rPr lang="es-CO" sz="1900" dirty="0" smtClean="0">
                <a:latin typeface="Calibri" panose="020F0502020204030204" pitchFamily="34" charset="0"/>
              </a:rPr>
              <a:t>Np=No </a:t>
            </a:r>
            <a:r>
              <a:rPr lang="es-CO" sz="1900" dirty="0">
                <a:latin typeface="Calibri" panose="020F0502020204030204" pitchFamily="34" charset="0"/>
              </a:rPr>
              <a:t>hay nada en la celda; </a:t>
            </a:r>
          </a:p>
          <a:p>
            <a:pPr algn="just"/>
            <a:r>
              <a:rPr lang="es-CO" sz="1900" dirty="0" err="1" smtClean="0">
                <a:latin typeface="Calibri" panose="020F0502020204030204" pitchFamily="34" charset="0"/>
              </a:rPr>
              <a:t>Ps</a:t>
            </a:r>
            <a:r>
              <a:rPr lang="es-CO" sz="1900" dirty="0" smtClean="0">
                <a:latin typeface="Calibri" panose="020F0502020204030204" pitchFamily="34" charset="0"/>
              </a:rPr>
              <a:t>=Personas </a:t>
            </a:r>
            <a:r>
              <a:rPr lang="es-CO" sz="1900" dirty="0">
                <a:latin typeface="Calibri" panose="020F0502020204030204" pitchFamily="34" charset="0"/>
              </a:rPr>
              <a:t>sanas; </a:t>
            </a:r>
          </a:p>
          <a:p>
            <a:pPr algn="just"/>
            <a:r>
              <a:rPr lang="es-CO" sz="1900" dirty="0" smtClean="0">
                <a:latin typeface="Calibri" panose="020F0502020204030204" pitchFamily="34" charset="0"/>
              </a:rPr>
              <a:t>Cs=Persona </a:t>
            </a:r>
            <a:r>
              <a:rPr lang="es-CO" sz="1900" dirty="0">
                <a:latin typeface="Calibri" panose="020F0502020204030204" pitchFamily="34" charset="0"/>
              </a:rPr>
              <a:t>con Covid-19 sintomática; </a:t>
            </a:r>
          </a:p>
          <a:p>
            <a:pPr algn="just"/>
            <a:r>
              <a:rPr lang="es-CO" sz="1900" dirty="0" err="1" smtClean="0">
                <a:latin typeface="Calibri" panose="020F0502020204030204" pitchFamily="34" charset="0"/>
              </a:rPr>
              <a:t>Cns</a:t>
            </a:r>
            <a:r>
              <a:rPr lang="es-CO" sz="1900" dirty="0" smtClean="0">
                <a:latin typeface="Calibri" panose="020F0502020204030204" pitchFamily="34" charset="0"/>
              </a:rPr>
              <a:t>=Persona </a:t>
            </a:r>
            <a:r>
              <a:rPr lang="es-CO" sz="1900" dirty="0">
                <a:latin typeface="Calibri" panose="020F0502020204030204" pitchFamily="34" charset="0"/>
              </a:rPr>
              <a:t>con Covid-19 asintomática; ́ </a:t>
            </a:r>
          </a:p>
          <a:p>
            <a:pPr algn="just"/>
            <a:r>
              <a:rPr lang="es-CO" sz="1900" dirty="0" err="1" smtClean="0">
                <a:latin typeface="Calibri" panose="020F0502020204030204" pitchFamily="34" charset="0"/>
              </a:rPr>
              <a:t>Ct</a:t>
            </a:r>
            <a:r>
              <a:rPr lang="es-CO" sz="1900" dirty="0" smtClean="0">
                <a:latin typeface="Calibri" panose="020F0502020204030204" pitchFamily="34" charset="0"/>
              </a:rPr>
              <a:t>=Persona </a:t>
            </a:r>
            <a:r>
              <a:rPr lang="es-CO" sz="1900" dirty="0">
                <a:latin typeface="Calibri" panose="020F0502020204030204" pitchFamily="34" charset="0"/>
              </a:rPr>
              <a:t>con Covid-19 en cuarentena o en cuidados médicos; </a:t>
            </a:r>
          </a:p>
          <a:p>
            <a:pPr algn="just"/>
            <a:r>
              <a:rPr lang="es-CO" sz="1900" dirty="0" err="1" smtClean="0">
                <a:latin typeface="Calibri" panose="020F0502020204030204" pitchFamily="34" charset="0"/>
              </a:rPr>
              <a:t>Pac</a:t>
            </a:r>
            <a:r>
              <a:rPr lang="es-CO" sz="1900" dirty="0" smtClean="0">
                <a:latin typeface="Calibri" panose="020F0502020204030204" pitchFamily="34" charset="0"/>
              </a:rPr>
              <a:t>=Persona </a:t>
            </a:r>
            <a:r>
              <a:rPr lang="es-CO" sz="1900" dirty="0">
                <a:latin typeface="Calibri" panose="020F0502020204030204" pitchFamily="34" charset="0"/>
              </a:rPr>
              <a:t>curada con anticuerpos. </a:t>
            </a:r>
          </a:p>
          <a:p>
            <a:pPr algn="just"/>
            <a:r>
              <a:rPr lang="es-CO" sz="1900" dirty="0" smtClean="0">
                <a:latin typeface="Calibri" panose="020F0502020204030204" pitchFamily="34" charset="0"/>
              </a:rPr>
              <a:t>M=Persona </a:t>
            </a:r>
            <a:r>
              <a:rPr lang="es-CO" sz="1900" dirty="0">
                <a:latin typeface="Calibri" panose="020F0502020204030204" pitchFamily="34" charset="0"/>
              </a:rPr>
              <a:t>muerta, no aparece en el retículo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8126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Autómatas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Celulares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Probabilísticos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sz="1800" dirty="0" smtClean="0">
                <a:latin typeface="Calibri" panose="020F0502020204030204" pitchFamily="34" charset="0"/>
              </a:rPr>
              <a:t>COVID-19.</a:t>
            </a:r>
            <a:endParaRPr lang="es-CO" sz="1800" dirty="0" smtClean="0">
              <a:latin typeface="Calibri" panose="020F0502020204030204" pitchFamily="34" charset="0"/>
            </a:endParaRPr>
          </a:p>
          <a:p>
            <a:pPr algn="just"/>
            <a:r>
              <a:rPr lang="es-CO" sz="1800" dirty="0">
                <a:latin typeface="Calibri" panose="020F0502020204030204" pitchFamily="34" charset="0"/>
              </a:rPr>
              <a:t>Reglas.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Si </a:t>
            </a:r>
            <a:r>
              <a:rPr lang="es-CO" sz="1800" dirty="0" err="1">
                <a:latin typeface="Calibri" panose="020F0502020204030204" pitchFamily="34" charset="0"/>
              </a:rPr>
              <a:t>Ps</a:t>
            </a:r>
            <a:r>
              <a:rPr lang="es-CO" sz="1800" dirty="0">
                <a:latin typeface="Calibri" panose="020F0502020204030204" pitchFamily="34" charset="0"/>
              </a:rPr>
              <a:t> tiene n vecinos pasa con probabilidad 0.n a ser </a:t>
            </a:r>
            <a:r>
              <a:rPr lang="es-CO" sz="1800" dirty="0" err="1">
                <a:latin typeface="Calibri" panose="020F0502020204030204" pitchFamily="34" charset="0"/>
              </a:rPr>
              <a:t>Cns</a:t>
            </a:r>
            <a:r>
              <a:rPr lang="es-CO" sz="1800" dirty="0">
                <a:latin typeface="Calibri" panose="020F0502020204030204" pitchFamily="34" charset="0"/>
              </a:rPr>
              <a:t> con probabilidad 0.4; o Cs con probabilidad 0.7. </a:t>
            </a:r>
          </a:p>
          <a:p>
            <a:pPr algn="just"/>
            <a:r>
              <a:rPr lang="es-CO" sz="1800" dirty="0" smtClean="0">
                <a:latin typeface="Calibri" panose="020F0502020204030204" pitchFamily="34" charset="0"/>
              </a:rPr>
              <a:t>Cs </a:t>
            </a:r>
            <a:r>
              <a:rPr lang="es-CO" sz="1800" dirty="0">
                <a:latin typeface="Calibri" panose="020F0502020204030204" pitchFamily="34" charset="0"/>
              </a:rPr>
              <a:t>después de 7 ciclos pasa a </a:t>
            </a:r>
            <a:r>
              <a:rPr lang="es-CO" sz="1800" dirty="0" err="1">
                <a:latin typeface="Calibri" panose="020F0502020204030204" pitchFamily="34" charset="0"/>
              </a:rPr>
              <a:t>Ct</a:t>
            </a:r>
            <a:r>
              <a:rPr lang="es-CO" sz="1800" dirty="0">
                <a:latin typeface="Calibri" panose="020F0502020204030204" pitchFamily="34" charset="0"/>
              </a:rPr>
              <a:t> </a:t>
            </a:r>
          </a:p>
          <a:p>
            <a:pPr algn="just"/>
            <a:r>
              <a:rPr lang="es-CO" sz="1800" dirty="0" err="1" smtClean="0">
                <a:latin typeface="Calibri" panose="020F0502020204030204" pitchFamily="34" charset="0"/>
              </a:rPr>
              <a:t>Cns</a:t>
            </a:r>
            <a:r>
              <a:rPr lang="es-CO" sz="1800" dirty="0" smtClean="0">
                <a:latin typeface="Calibri" panose="020F0502020204030204" pitchFamily="34" charset="0"/>
              </a:rPr>
              <a:t> </a:t>
            </a:r>
            <a:r>
              <a:rPr lang="es-CO" sz="1800" dirty="0">
                <a:latin typeface="Calibri" panose="020F0502020204030204" pitchFamily="34" charset="0"/>
              </a:rPr>
              <a:t>después de 30 ciclos pasa a </a:t>
            </a:r>
            <a:r>
              <a:rPr lang="es-CO" sz="1800" dirty="0" err="1">
                <a:latin typeface="Calibri" panose="020F0502020204030204" pitchFamily="34" charset="0"/>
              </a:rPr>
              <a:t>Pa</a:t>
            </a:r>
            <a:r>
              <a:rPr lang="es-CO" sz="1800" dirty="0">
                <a:latin typeface="Calibri" panose="020F0502020204030204" pitchFamily="34" charset="0"/>
              </a:rPr>
              <a:t>. </a:t>
            </a:r>
          </a:p>
          <a:p>
            <a:pPr algn="just"/>
            <a:r>
              <a:rPr lang="es-CO" sz="1800" dirty="0" err="1" smtClean="0">
                <a:latin typeface="Calibri" panose="020F0502020204030204" pitchFamily="34" charset="0"/>
              </a:rPr>
              <a:t>Ct</a:t>
            </a:r>
            <a:r>
              <a:rPr lang="es-CO" sz="1800" dirty="0" smtClean="0">
                <a:latin typeface="Calibri" panose="020F0502020204030204" pitchFamily="34" charset="0"/>
              </a:rPr>
              <a:t> </a:t>
            </a:r>
            <a:r>
              <a:rPr lang="es-CO" sz="1800" dirty="0">
                <a:latin typeface="Calibri" panose="020F0502020204030204" pitchFamily="34" charset="0"/>
              </a:rPr>
              <a:t>después de 20 ciclos con probabilidad 0.8 pasa a </a:t>
            </a:r>
            <a:r>
              <a:rPr lang="es-CO" sz="1800" dirty="0" err="1">
                <a:latin typeface="Calibri" panose="020F0502020204030204" pitchFamily="34" charset="0"/>
              </a:rPr>
              <a:t>Pac</a:t>
            </a:r>
            <a:r>
              <a:rPr lang="es-CO" sz="1800" dirty="0">
                <a:latin typeface="Calibri" panose="020F0502020204030204" pitchFamily="34" charset="0"/>
              </a:rPr>
              <a:t> o con probabilidad 0.2 pasa a M, que no se representa en el retículo. </a:t>
            </a:r>
          </a:p>
        </p:txBody>
      </p:sp>
    </p:spTree>
    <p:extLst>
      <p:ext uri="{BB962C8B-B14F-4D97-AF65-F5344CB8AC3E}">
        <p14:creationId xmlns:p14="http://schemas.microsoft.com/office/powerpoint/2010/main" val="2270528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2209237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06878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Epidemiología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Simulación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propagación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enfermedades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contagiosas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Modelado</a:t>
            </a:r>
            <a:r>
              <a:rPr sz="1800" dirty="0">
                <a:latin typeface="Calibri" panose="020F0502020204030204" pitchFamily="34" charset="0"/>
              </a:rPr>
              <a:t> de la </a:t>
            </a:r>
            <a:r>
              <a:rPr sz="1800" dirty="0" err="1">
                <a:latin typeface="Calibri" panose="020F0502020204030204" pitchFamily="34" charset="0"/>
              </a:rPr>
              <a:t>difusión</a:t>
            </a:r>
            <a:r>
              <a:rPr sz="1800" dirty="0">
                <a:latin typeface="Calibri" panose="020F0502020204030204" pitchFamily="34" charset="0"/>
              </a:rPr>
              <a:t> del COVID-19.</a:t>
            </a:r>
          </a:p>
        </p:txBody>
      </p:sp>
    </p:spTree>
    <p:extLst>
      <p:ext uri="{BB962C8B-B14F-4D97-AF65-F5344CB8AC3E}">
        <p14:creationId xmlns:p14="http://schemas.microsoft.com/office/powerpoint/2010/main" val="3065027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Antropología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y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Sociología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>
                <a:latin typeface="Calibri" panose="020F0502020204030204" pitchFamily="34" charset="0"/>
              </a:rPr>
              <a:t>Modelado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sociedades</a:t>
            </a:r>
            <a:r>
              <a:rPr sz="1800" dirty="0">
                <a:latin typeface="Calibri" panose="020F0502020204030204" pitchFamily="34" charset="0"/>
              </a:rPr>
              <a:t> y </a:t>
            </a:r>
            <a:r>
              <a:rPr sz="1800" dirty="0" err="1">
                <a:latin typeface="Calibri" panose="020F0502020204030204" pitchFamily="34" charset="0"/>
              </a:rPr>
              <a:t>comportamientos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sociales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Estudio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causas</a:t>
            </a:r>
            <a:r>
              <a:rPr sz="1800" dirty="0">
                <a:latin typeface="Calibri" panose="020F0502020204030204" pitchFamily="34" charset="0"/>
              </a:rPr>
              <a:t> y </a:t>
            </a:r>
            <a:r>
              <a:rPr sz="1800" dirty="0" err="1">
                <a:latin typeface="Calibri" panose="020F0502020204030204" pitchFamily="34" charset="0"/>
              </a:rPr>
              <a:t>efectos</a:t>
            </a:r>
            <a:r>
              <a:rPr sz="1800" dirty="0">
                <a:latin typeface="Calibri" panose="020F0502020204030204" pitchFamily="34" charset="0"/>
              </a:rPr>
              <a:t> de la </a:t>
            </a:r>
            <a:r>
              <a:rPr sz="1800" dirty="0" err="1">
                <a:latin typeface="Calibri" panose="020F0502020204030204" pitchFamily="34" charset="0"/>
              </a:rPr>
              <a:t>violencia</a:t>
            </a:r>
            <a:r>
              <a:rPr sz="1800" dirty="0">
                <a:latin typeface="Calibri" panose="020F0502020204030204" pitchFamily="34" charset="0"/>
              </a:rPr>
              <a:t> civil.</a:t>
            </a:r>
          </a:p>
        </p:txBody>
      </p:sp>
    </p:spTree>
    <p:extLst>
      <p:ext uri="{BB962C8B-B14F-4D97-AF65-F5344CB8AC3E}">
        <p14:creationId xmlns:p14="http://schemas.microsoft.com/office/powerpoint/2010/main" val="2389868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Criptografía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Sistemas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seguros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frente</a:t>
            </a:r>
            <a:r>
              <a:rPr sz="1800" dirty="0">
                <a:latin typeface="Calibri" panose="020F0502020204030204" pitchFamily="34" charset="0"/>
              </a:rPr>
              <a:t> a </a:t>
            </a:r>
            <a:r>
              <a:rPr sz="1800" dirty="0" err="1">
                <a:latin typeface="Calibri" panose="020F0502020204030204" pitchFamily="34" charset="0"/>
              </a:rPr>
              <a:t>ataques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fuerza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bruta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Criptosistema</a:t>
            </a:r>
            <a:r>
              <a:rPr sz="1800" dirty="0">
                <a:latin typeface="Calibri" panose="020F0502020204030204" pitchFamily="34" charset="0"/>
              </a:rPr>
              <a:t> de clave </a:t>
            </a:r>
            <a:r>
              <a:rPr sz="1800" dirty="0" err="1">
                <a:latin typeface="Calibri" panose="020F0502020204030204" pitchFamily="34" charset="0"/>
              </a:rPr>
              <a:t>simétrica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basado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autómatas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celulares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4498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Biología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>
                <a:latin typeface="Calibri" panose="020F0502020204030204" pitchFamily="34" charset="0"/>
              </a:rPr>
              <a:t>Simulación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crecimiento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tejidos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celulares</a:t>
            </a:r>
            <a:r>
              <a:rPr sz="1800" dirty="0">
                <a:latin typeface="Calibri" panose="020F0502020204030204" pitchFamily="34" charset="0"/>
              </a:rPr>
              <a:t> y </a:t>
            </a:r>
            <a:r>
              <a:rPr sz="1800" dirty="0" err="1">
                <a:latin typeface="Calibri" panose="020F0502020204030204" pitchFamily="34" charset="0"/>
              </a:rPr>
              <a:t>patrones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piel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Modelos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presa-predador</a:t>
            </a:r>
            <a:r>
              <a:rPr sz="1800" dirty="0">
                <a:latin typeface="Calibri" panose="020F0502020204030204" pitchFamily="34" charset="0"/>
              </a:rPr>
              <a:t> y </a:t>
            </a:r>
            <a:r>
              <a:rPr sz="1800" dirty="0" err="1">
                <a:latin typeface="Calibri" panose="020F0502020204030204" pitchFamily="34" charset="0"/>
              </a:rPr>
              <a:t>comportamientos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neuronas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cerebrales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9414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Robótica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Evitar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obstáculos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robots </a:t>
            </a:r>
            <a:r>
              <a:rPr sz="1800" dirty="0" err="1">
                <a:latin typeface="Calibri" panose="020F0502020204030204" pitchFamily="34" charset="0"/>
              </a:rPr>
              <a:t>móviles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Uso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autómatas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celulares</a:t>
            </a:r>
            <a:r>
              <a:rPr sz="1800" dirty="0">
                <a:latin typeface="Calibri" panose="020F0502020204030204" pitchFamily="34" charset="0"/>
              </a:rPr>
              <a:t> para </a:t>
            </a:r>
            <a:r>
              <a:rPr sz="1800" dirty="0" err="1">
                <a:latin typeface="Calibri" panose="020F0502020204030204" pitchFamily="34" charset="0"/>
              </a:rPr>
              <a:t>modelar</a:t>
            </a:r>
            <a:r>
              <a:rPr sz="1800" dirty="0">
                <a:latin typeface="Calibri" panose="020F0502020204030204" pitchFamily="34" charset="0"/>
              </a:rPr>
              <a:t> el </a:t>
            </a:r>
            <a:r>
              <a:rPr sz="1800" dirty="0" err="1">
                <a:latin typeface="Calibri" panose="020F0502020204030204" pitchFamily="34" charset="0"/>
              </a:rPr>
              <a:t>comportamiento</a:t>
            </a:r>
            <a:r>
              <a:rPr sz="1800" dirty="0">
                <a:latin typeface="Calibri" panose="020F0502020204030204" pitchFamily="34" charset="0"/>
              </a:rPr>
              <a:t> de robots.</a:t>
            </a:r>
          </a:p>
        </p:txBody>
      </p:sp>
    </p:spTree>
    <p:extLst>
      <p:ext uri="{BB962C8B-B14F-4D97-AF65-F5344CB8AC3E}">
        <p14:creationId xmlns:p14="http://schemas.microsoft.com/office/powerpoint/2010/main" val="1445120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en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Simulación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Fenómenos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Naturales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 err="1">
                <a:latin typeface="Calibri" panose="020F0502020204030204" pitchFamily="34" charset="0"/>
              </a:rPr>
              <a:t>Modelado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sistemas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físicos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complejos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 err="1">
                <a:latin typeface="Calibri" panose="020F0502020204030204" pitchFamily="34" charset="0"/>
              </a:rPr>
              <a:t>Ejemplo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Transmisión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calor</a:t>
            </a:r>
            <a:r>
              <a:rPr sz="1800" dirty="0">
                <a:latin typeface="Calibri" panose="020F0502020204030204" pitchFamily="34" charset="0"/>
              </a:rPr>
              <a:t>, </a:t>
            </a:r>
            <a:r>
              <a:rPr sz="1800" dirty="0" err="1">
                <a:latin typeface="Calibri" panose="020F0502020204030204" pitchFamily="34" charset="0"/>
              </a:rPr>
              <a:t>mecánica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fluidos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38" y="2425997"/>
            <a:ext cx="56864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69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Diagramas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Voronoi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>
                <a:latin typeface="Calibri" panose="020F0502020204030204" pitchFamily="34" charset="0"/>
              </a:rPr>
              <a:t>Dividen</a:t>
            </a:r>
            <a:r>
              <a:rPr sz="1800" dirty="0">
                <a:latin typeface="Calibri" panose="020F0502020204030204" pitchFamily="34" charset="0"/>
              </a:rPr>
              <a:t> un </a:t>
            </a:r>
            <a:r>
              <a:rPr sz="1800" dirty="0" err="1">
                <a:latin typeface="Calibri" panose="020F0502020204030204" pitchFamily="34" charset="0"/>
              </a:rPr>
              <a:t>espacio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zonas de </a:t>
            </a:r>
            <a:r>
              <a:rPr sz="1800" dirty="0" err="1">
                <a:latin typeface="Calibri" panose="020F0502020204030204" pitchFamily="34" charset="0"/>
              </a:rPr>
              <a:t>influencia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según</a:t>
            </a:r>
            <a:r>
              <a:rPr sz="1800" dirty="0">
                <a:latin typeface="Calibri" panose="020F0502020204030204" pitchFamily="34" charset="0"/>
              </a:rPr>
              <a:t> la </a:t>
            </a:r>
            <a:r>
              <a:rPr sz="1800" dirty="0" err="1">
                <a:latin typeface="Calibri" panose="020F0502020204030204" pitchFamily="34" charset="0"/>
              </a:rPr>
              <a:t>proximidad</a:t>
            </a:r>
            <a:r>
              <a:rPr sz="1800" dirty="0">
                <a:latin typeface="Calibri" panose="020F0502020204030204" pitchFamily="34" charset="0"/>
              </a:rPr>
              <a:t> a un </a:t>
            </a:r>
            <a:r>
              <a:rPr sz="1800" dirty="0" err="1">
                <a:latin typeface="Calibri" panose="020F0502020204030204" pitchFamily="34" charset="0"/>
              </a:rPr>
              <a:t>conjunto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puntos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r>
              <a:rPr sz="1800" dirty="0" err="1">
                <a:latin typeface="Calibri" panose="020F0502020204030204" pitchFamily="34" charset="0"/>
              </a:rPr>
              <a:t>Aplicaciones</a:t>
            </a:r>
            <a:r>
              <a:rPr sz="1800" dirty="0">
                <a:latin typeface="Calibri" panose="020F0502020204030204" pitchFamily="34" charset="0"/>
              </a:rPr>
              <a:t>: </a:t>
            </a:r>
            <a:r>
              <a:rPr sz="1800" dirty="0" err="1">
                <a:latin typeface="Calibri" panose="020F0502020204030204" pitchFamily="34" charset="0"/>
              </a:rPr>
              <a:t>Planificación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rutas</a:t>
            </a:r>
            <a:r>
              <a:rPr sz="1800" dirty="0">
                <a:latin typeface="Calibri" panose="020F0502020204030204" pitchFamily="34" charset="0"/>
              </a:rPr>
              <a:t>, </a:t>
            </a:r>
            <a:r>
              <a:rPr sz="1800" dirty="0" err="1">
                <a:latin typeface="Calibri" panose="020F0502020204030204" pitchFamily="34" charset="0"/>
              </a:rPr>
              <a:t>agricultura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precisión</a:t>
            </a:r>
            <a:r>
              <a:rPr sz="1800" dirty="0">
                <a:latin typeface="Calibri" panose="020F0502020204030204" pitchFamily="34" charset="0"/>
              </a:rPr>
              <a:t>, </a:t>
            </a:r>
            <a:r>
              <a:rPr sz="1800" dirty="0" err="1">
                <a:latin typeface="Calibri" panose="020F0502020204030204" pitchFamily="34" charset="0"/>
              </a:rPr>
              <a:t>diseño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redes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inalámbricas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56" y="2751559"/>
            <a:ext cx="2295722" cy="18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37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Conclusiones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>
                <a:latin typeface="Calibri" panose="020F0502020204030204" pitchFamily="34" charset="0"/>
              </a:rPr>
              <a:t>Los </a:t>
            </a:r>
            <a:r>
              <a:rPr sz="1800" dirty="0" err="1">
                <a:latin typeface="Calibri" panose="020F0502020204030204" pitchFamily="34" charset="0"/>
              </a:rPr>
              <a:t>autómatas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celulares</a:t>
            </a:r>
            <a:r>
              <a:rPr sz="1800" dirty="0">
                <a:latin typeface="Calibri" panose="020F0502020204030204" pitchFamily="34" charset="0"/>
              </a:rPr>
              <a:t> son </a:t>
            </a:r>
            <a:r>
              <a:rPr sz="1800" dirty="0" err="1">
                <a:latin typeface="Calibri" panose="020F0502020204030204" pitchFamily="34" charset="0"/>
              </a:rPr>
              <a:t>herramientas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poderosas</a:t>
            </a:r>
            <a:r>
              <a:rPr sz="1800" dirty="0">
                <a:latin typeface="Calibri" panose="020F0502020204030204" pitchFamily="34" charset="0"/>
              </a:rPr>
              <a:t> para </a:t>
            </a:r>
            <a:r>
              <a:rPr sz="1800" dirty="0" err="1">
                <a:latin typeface="Calibri" panose="020F0502020204030204" pitchFamily="34" charset="0"/>
              </a:rPr>
              <a:t>modelar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sistemas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complejos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>
                <a:latin typeface="Calibri" panose="020F0502020204030204" pitchFamily="34" charset="0"/>
              </a:rPr>
              <a:t>Su </a:t>
            </a:r>
            <a:r>
              <a:rPr sz="1800" dirty="0" err="1">
                <a:latin typeface="Calibri" panose="020F0502020204030204" pitchFamily="34" charset="0"/>
              </a:rPr>
              <a:t>capacidad</a:t>
            </a:r>
            <a:r>
              <a:rPr sz="1800" dirty="0">
                <a:latin typeface="Calibri" panose="020F0502020204030204" pitchFamily="34" charset="0"/>
              </a:rPr>
              <a:t> para </a:t>
            </a:r>
            <a:r>
              <a:rPr sz="1800" dirty="0" err="1">
                <a:latin typeface="Calibri" panose="020F0502020204030204" pitchFamily="34" charset="0"/>
              </a:rPr>
              <a:t>generar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comportamientos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emergentes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los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hace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útiles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múltiples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disciplinas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  <a:p>
            <a:pPr algn="just"/>
            <a:r>
              <a:rPr sz="1800" dirty="0">
                <a:latin typeface="Calibri" panose="020F0502020204030204" pitchFamily="34" charset="0"/>
              </a:rPr>
              <a:t>El </a:t>
            </a:r>
            <a:r>
              <a:rPr sz="1800" dirty="0" err="1">
                <a:latin typeface="Calibri" panose="020F0502020204030204" pitchFamily="34" charset="0"/>
              </a:rPr>
              <a:t>estudio</a:t>
            </a:r>
            <a:r>
              <a:rPr sz="1800" dirty="0">
                <a:latin typeface="Calibri" panose="020F0502020204030204" pitchFamily="34" charset="0"/>
              </a:rPr>
              <a:t> de </a:t>
            </a:r>
            <a:r>
              <a:rPr sz="1800" dirty="0" err="1">
                <a:latin typeface="Calibri" panose="020F0502020204030204" pitchFamily="34" charset="0"/>
              </a:rPr>
              <a:t>los</a:t>
            </a:r>
            <a:r>
              <a:rPr sz="1800" dirty="0">
                <a:latin typeface="Calibri" panose="020F0502020204030204" pitchFamily="34" charset="0"/>
              </a:rPr>
              <a:t> ACs </a:t>
            </a:r>
            <a:r>
              <a:rPr sz="1800" dirty="0" err="1">
                <a:latin typeface="Calibri" panose="020F0502020204030204" pitchFamily="34" charset="0"/>
              </a:rPr>
              <a:t>sigue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siendo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relevante</a:t>
            </a:r>
            <a:r>
              <a:rPr sz="1800" dirty="0">
                <a:latin typeface="Calibri" panose="020F0502020204030204" pitchFamily="34" charset="0"/>
              </a:rPr>
              <a:t> </a:t>
            </a:r>
            <a:r>
              <a:rPr sz="1800" dirty="0" err="1">
                <a:latin typeface="Calibri" panose="020F0502020204030204" pitchFamily="34" charset="0"/>
              </a:rPr>
              <a:t>en</a:t>
            </a:r>
            <a:r>
              <a:rPr sz="1800" dirty="0">
                <a:latin typeface="Calibri" panose="020F0502020204030204" pitchFamily="34" charset="0"/>
              </a:rPr>
              <a:t> la </a:t>
            </a:r>
            <a:r>
              <a:rPr sz="1800" dirty="0" err="1">
                <a:latin typeface="Calibri" panose="020F0502020204030204" pitchFamily="34" charset="0"/>
              </a:rPr>
              <a:t>investigación</a:t>
            </a:r>
            <a:r>
              <a:rPr sz="1800" dirty="0">
                <a:latin typeface="Calibri" panose="020F0502020204030204" pitchFamily="34" charset="0"/>
              </a:rPr>
              <a:t> de la </a:t>
            </a:r>
            <a:r>
              <a:rPr sz="1800" dirty="0" err="1">
                <a:latin typeface="Calibri" panose="020F0502020204030204" pitchFamily="34" charset="0"/>
              </a:rPr>
              <a:t>complejidad</a:t>
            </a:r>
            <a:r>
              <a:rPr sz="1800" dirty="0">
                <a:latin typeface="Calibri" panose="020F0502020204030204" pitchFamily="34" charset="0"/>
              </a:rPr>
              <a:t> y la </a:t>
            </a:r>
            <a:r>
              <a:rPr sz="1800" dirty="0" err="1">
                <a:latin typeface="Calibri" panose="020F0502020204030204" pitchFamily="34" charset="0"/>
              </a:rPr>
              <a:t>computación</a:t>
            </a:r>
            <a:r>
              <a:rPr sz="1800" dirty="0"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8543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252</TotalTime>
  <Words>1090</Words>
  <Application>Microsoft Office PowerPoint</Application>
  <PresentationFormat>Presentación en pantalla (16:9)</PresentationFormat>
  <Paragraphs>144</Paragraphs>
  <Slides>34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Ejemplo AC 1D</vt:lpstr>
      <vt:lpstr>Propiedades Esenciales</vt:lpstr>
      <vt:lpstr>Vecindad AC 2D</vt:lpstr>
      <vt:lpstr>Ejemplo AC 2D</vt:lpstr>
      <vt:lpstr>Autómatas Celulares 1D</vt:lpstr>
      <vt:lpstr>Autómatas Celulares 1D</vt:lpstr>
      <vt:lpstr>Autómatas Celulares 1D</vt:lpstr>
      <vt:lpstr>Autómatas Celulares 1D</vt:lpstr>
      <vt:lpstr>Autómatas Celulares 1D</vt:lpstr>
      <vt:lpstr>Comportamientos de Wolfram</vt:lpstr>
      <vt:lpstr>Comportamientos de Wolfram</vt:lpstr>
      <vt:lpstr>Comportamientos de Wolfram</vt:lpstr>
      <vt:lpstr>Comportamientos de Wolfram</vt:lpstr>
      <vt:lpstr>Comportamientos de Wolfram</vt:lpstr>
      <vt:lpstr>Autómatas Celulares 2D</vt:lpstr>
      <vt:lpstr>LIFE de Conway</vt:lpstr>
      <vt:lpstr>LIFE de Conway</vt:lpstr>
      <vt:lpstr>Autómatas Celulares Probabilísticos</vt:lpstr>
      <vt:lpstr>Autómatas Celulares Probabilísticos</vt:lpstr>
      <vt:lpstr>Autómatas Celulares Probabilísticos</vt:lpstr>
      <vt:lpstr>Aplicaciones </vt:lpstr>
      <vt:lpstr>Aplicaciones en Epidemiología</vt:lpstr>
      <vt:lpstr>Aplicaciones en Antropología y Sociología</vt:lpstr>
      <vt:lpstr>Aplicaciones en Criptografía</vt:lpstr>
      <vt:lpstr>Aplicaciones en Biología</vt:lpstr>
      <vt:lpstr>Aplicaciones en Robótica</vt:lpstr>
      <vt:lpstr>Aplicaciones en Simulación de Fenómenos Naturales</vt:lpstr>
      <vt:lpstr>Diagramas de Voronoi</vt:lpstr>
      <vt:lpstr>Conclusiones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43</cp:revision>
  <dcterms:created xsi:type="dcterms:W3CDTF">2026-02-02T17:28:11Z</dcterms:created>
  <dcterms:modified xsi:type="dcterms:W3CDTF">2026-02-04T21:39:26Z</dcterms:modified>
</cp:coreProperties>
</file>