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31"/>
  </p:notesMasterIdLst>
  <p:sldIdLst>
    <p:sldId id="321" r:id="rId2"/>
    <p:sldId id="343" r:id="rId3"/>
    <p:sldId id="324" r:id="rId4"/>
    <p:sldId id="325" r:id="rId5"/>
    <p:sldId id="355" r:id="rId6"/>
    <p:sldId id="351" r:id="rId7"/>
    <p:sldId id="350" r:id="rId8"/>
    <p:sldId id="347" r:id="rId9"/>
    <p:sldId id="352" r:id="rId10"/>
    <p:sldId id="353" r:id="rId11"/>
    <p:sldId id="354" r:id="rId12"/>
    <p:sldId id="346" r:id="rId13"/>
    <p:sldId id="335" r:id="rId14"/>
    <p:sldId id="328" r:id="rId15"/>
    <p:sldId id="329" r:id="rId16"/>
    <p:sldId id="330" r:id="rId17"/>
    <p:sldId id="331" r:id="rId18"/>
    <p:sldId id="332" r:id="rId19"/>
    <p:sldId id="348" r:id="rId20"/>
    <p:sldId id="349" r:id="rId21"/>
    <p:sldId id="333" r:id="rId22"/>
    <p:sldId id="336" r:id="rId23"/>
    <p:sldId id="356" r:id="rId24"/>
    <p:sldId id="357" r:id="rId25"/>
    <p:sldId id="358" r:id="rId26"/>
    <p:sldId id="359" r:id="rId27"/>
    <p:sldId id="360" r:id="rId28"/>
    <p:sldId id="361" r:id="rId29"/>
    <p:sldId id="27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74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299" y="1457870"/>
            <a:ext cx="6202153" cy="631357"/>
          </a:xfrm>
        </p:spPr>
        <p:txBody>
          <a:bodyPr/>
          <a:lstStyle/>
          <a:p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Programación</a:t>
            </a:r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 Genética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3705843" y="3025200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Febrero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5451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Historia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54937" y="1249495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endParaRPr lang="en-US" sz="3200" dirty="0" smtClean="0"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973" y="1598095"/>
            <a:ext cx="4678377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Introducción a la PG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Uno de los primeros fue Lawrence </a:t>
            </a:r>
            <a:r>
              <a:rPr lang="es-CO" sz="2800" dirty="0" err="1" smtClean="0">
                <a:latin typeface="Calibri" panose="020F0502020204030204" pitchFamily="34" charset="0"/>
              </a:rPr>
              <a:t>Fogel</a:t>
            </a:r>
            <a:r>
              <a:rPr lang="es-CO" sz="2800" dirty="0" smtClean="0">
                <a:latin typeface="Calibri" panose="020F0502020204030204" pitchFamily="34" charset="0"/>
              </a:rPr>
              <a:t>, 1964.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John </a:t>
            </a:r>
            <a:r>
              <a:rPr lang="es-CO" sz="2800" dirty="0" err="1" smtClean="0">
                <a:latin typeface="Calibri" panose="020F0502020204030204" pitchFamily="34" charset="0"/>
              </a:rPr>
              <a:t>Koza</a:t>
            </a:r>
            <a:r>
              <a:rPr lang="es-CO" sz="2800" dirty="0" smtClean="0">
                <a:latin typeface="Calibri" panose="020F0502020204030204" pitchFamily="34" charset="0"/>
              </a:rPr>
              <a:t>, fue el principal promotor de la PG. Publicó su libro en el año 2000.</a:t>
            </a:r>
          </a:p>
          <a:p>
            <a:r>
              <a:rPr lang="es-CO" sz="2800" dirty="0" err="1" smtClean="0">
                <a:latin typeface="Calibri" panose="020F0502020204030204" pitchFamily="34" charset="0"/>
              </a:rPr>
              <a:t>Gianna</a:t>
            </a:r>
            <a:r>
              <a:rPr lang="es-CO" sz="2800" dirty="0" smtClean="0">
                <a:latin typeface="Calibri" panose="020F0502020204030204" pitchFamily="34" charset="0"/>
              </a:rPr>
              <a:t> </a:t>
            </a:r>
            <a:r>
              <a:rPr lang="es-CO" sz="2800" dirty="0" err="1" smtClean="0">
                <a:latin typeface="Calibri" panose="020F0502020204030204" pitchFamily="34" charset="0"/>
              </a:rPr>
              <a:t>Gabelli</a:t>
            </a:r>
            <a:r>
              <a:rPr lang="es-CO" sz="2800" dirty="0" smtClean="0">
                <a:latin typeface="Calibri" panose="020F0502020204030204" pitchFamily="34" charset="0"/>
              </a:rPr>
              <a:t> pionero en el uso de PG en modelar expresiones de ADN.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88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Concepto 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General 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de 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la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sz="2800" dirty="0"/>
              <a:t>La Programación Genética, PG,  es un retoño de los Algoritmos </a:t>
            </a:r>
            <a:r>
              <a:rPr lang="es-CO" sz="2800" dirty="0" smtClean="0"/>
              <a:t>Genéticos.</a:t>
            </a:r>
          </a:p>
          <a:p>
            <a:r>
              <a:rPr lang="es-CO" sz="2800" dirty="0" smtClean="0"/>
              <a:t>Los cromosomas</a:t>
            </a:r>
            <a:r>
              <a:rPr lang="es-CO" sz="2800" dirty="0"/>
              <a:t>, que sufren la adaptación, son árboles que representan </a:t>
            </a:r>
            <a:r>
              <a:rPr lang="es-CO" sz="2800" dirty="0" smtClean="0"/>
              <a:t>programas.</a:t>
            </a:r>
          </a:p>
          <a:p>
            <a:r>
              <a:rPr lang="es-CO" sz="2800" dirty="0" smtClean="0"/>
              <a:t>Es </a:t>
            </a:r>
            <a:r>
              <a:rPr lang="es-CO" sz="2800" dirty="0"/>
              <a:t>decir, son en sí mismos programas de computador. </a:t>
            </a:r>
          </a:p>
        </p:txBody>
      </p:sp>
    </p:spTree>
    <p:extLst>
      <p:ext uri="{BB962C8B-B14F-4D97-AF65-F5344CB8AC3E}">
        <p14:creationId xmlns:p14="http://schemas.microsoft.com/office/powerpoint/2010/main" val="211856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Estructura de datos de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/>
              <a:t>Arboles binarios</a:t>
            </a:r>
          </a:p>
          <a:p>
            <a:pPr marL="0" indent="0">
              <a:buNone/>
            </a:pPr>
            <a:r>
              <a:rPr lang="es-CO" sz="2400" dirty="0" smtClean="0"/>
              <a:t>Los nodos internos son</a:t>
            </a:r>
          </a:p>
          <a:p>
            <a:pPr marL="0" indent="0">
              <a:buNone/>
            </a:pPr>
            <a:r>
              <a:rPr lang="es-CO" sz="2400" dirty="0"/>
              <a:t>f</a:t>
            </a:r>
            <a:r>
              <a:rPr lang="es-CO" sz="2400" dirty="0" smtClean="0"/>
              <a:t>unciones</a:t>
            </a:r>
          </a:p>
          <a:p>
            <a:pPr marL="0" indent="0">
              <a:buNone/>
            </a:pPr>
            <a:r>
              <a:rPr lang="es-CO" sz="2400" dirty="0" smtClean="0"/>
              <a:t>Los nodos externos son</a:t>
            </a:r>
          </a:p>
          <a:p>
            <a:pPr marL="0" indent="0">
              <a:buNone/>
            </a:pPr>
            <a:r>
              <a:rPr lang="es-CO" sz="2400" dirty="0" smtClean="0"/>
              <a:t>terminales </a:t>
            </a:r>
            <a:endParaRPr lang="es-CO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680" y="1317683"/>
            <a:ext cx="294882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2800" dirty="0"/>
              <a:t>1. </a:t>
            </a:r>
            <a:r>
              <a:rPr lang="es-CO" sz="2800" dirty="0" smtClean="0"/>
              <a:t>Define problema</a:t>
            </a:r>
          </a:p>
          <a:p>
            <a:r>
              <a:rPr lang="es-CO" sz="2800" dirty="0" smtClean="0"/>
              <a:t>2</a:t>
            </a:r>
            <a:r>
              <a:rPr lang="es-CO" sz="2800" dirty="0"/>
              <a:t>. </a:t>
            </a:r>
            <a:r>
              <a:rPr lang="es-CO" sz="2800" dirty="0" smtClean="0"/>
              <a:t>Define el conjunto de terminales</a:t>
            </a:r>
          </a:p>
          <a:p>
            <a:r>
              <a:rPr lang="es-CO" sz="2800" dirty="0" smtClean="0"/>
              <a:t>3</a:t>
            </a:r>
            <a:r>
              <a:rPr lang="es-CO" sz="2800" dirty="0"/>
              <a:t>. </a:t>
            </a:r>
            <a:r>
              <a:rPr lang="es-CO" sz="2800" dirty="0" smtClean="0"/>
              <a:t>Define el conjunto de funciones</a:t>
            </a:r>
          </a:p>
          <a:p>
            <a:r>
              <a:rPr lang="es-CO" sz="2800" dirty="0" smtClean="0"/>
              <a:t>4</a:t>
            </a:r>
            <a:r>
              <a:rPr lang="es-CO" sz="2800" dirty="0"/>
              <a:t>. Medida de </a:t>
            </a:r>
            <a:r>
              <a:rPr lang="es-CO" sz="2800" dirty="0" smtClean="0"/>
              <a:t>aptitud</a:t>
            </a:r>
          </a:p>
          <a:p>
            <a:r>
              <a:rPr lang="es-CO" sz="2800" dirty="0" smtClean="0"/>
              <a:t>5</a:t>
            </a:r>
            <a:r>
              <a:rPr lang="es-CO" sz="2800" dirty="0"/>
              <a:t>. </a:t>
            </a:r>
            <a:r>
              <a:rPr lang="es-CO" sz="2800" dirty="0" smtClean="0"/>
              <a:t>Parámetros</a:t>
            </a:r>
          </a:p>
          <a:p>
            <a:r>
              <a:rPr lang="es-CO" sz="2800" dirty="0" smtClean="0"/>
              <a:t>6</a:t>
            </a:r>
            <a:r>
              <a:rPr lang="es-CO" sz="2800" dirty="0"/>
              <a:t>. Criterio de terminación</a:t>
            </a:r>
          </a:p>
        </p:txBody>
      </p:sp>
    </p:spTree>
    <p:extLst>
      <p:ext uri="{BB962C8B-B14F-4D97-AF65-F5344CB8AC3E}">
        <p14:creationId xmlns:p14="http://schemas.microsoft.com/office/powerpoint/2010/main" val="238818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Pasos </a:t>
            </a: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para 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/>
              <a:t>1. </a:t>
            </a:r>
            <a:r>
              <a:rPr lang="es-CO" sz="2800" dirty="0" smtClean="0"/>
              <a:t>Define el problema</a:t>
            </a:r>
          </a:p>
          <a:p>
            <a:r>
              <a:rPr lang="es-CO" sz="2800" dirty="0" smtClean="0"/>
              <a:t>Claridad sobre el problema </a:t>
            </a:r>
            <a:r>
              <a:rPr lang="es-CO" sz="2800" dirty="0"/>
              <a:t>que se </a:t>
            </a:r>
            <a:r>
              <a:rPr lang="es-CO" sz="2800" dirty="0" smtClean="0"/>
              <a:t>va a </a:t>
            </a:r>
            <a:r>
              <a:rPr lang="es-CO" sz="2800" dirty="0"/>
              <a:t>solucionar por </a:t>
            </a:r>
            <a:r>
              <a:rPr lang="es-CO" sz="2800" dirty="0" smtClean="0"/>
              <a:t>PG y su dominio.</a:t>
            </a:r>
          </a:p>
          <a:p>
            <a:r>
              <a:rPr lang="es-CO" sz="2800" dirty="0" smtClean="0"/>
              <a:t>Análisis </a:t>
            </a:r>
            <a:r>
              <a:rPr lang="es-CO" sz="2800" dirty="0"/>
              <a:t>de datos a través de regresiones, </a:t>
            </a:r>
            <a:r>
              <a:rPr lang="es-CO" sz="2800" dirty="0" smtClean="0"/>
              <a:t>clasificación; circuitos lógicos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421351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/>
              <a:t>2, 3 </a:t>
            </a:r>
            <a:r>
              <a:rPr lang="es-CO" sz="2800" dirty="0"/>
              <a:t>El conjunto de </a:t>
            </a:r>
            <a:r>
              <a:rPr lang="es-CO" sz="2800" dirty="0" smtClean="0"/>
              <a:t>terminales</a:t>
            </a:r>
            <a:r>
              <a:rPr lang="es-CO" sz="2800" dirty="0"/>
              <a:t> </a:t>
            </a:r>
            <a:r>
              <a:rPr lang="es-CO" sz="2800" dirty="0" smtClean="0"/>
              <a:t>y conjunto de funciones</a:t>
            </a:r>
            <a:endParaRPr lang="es-CO" sz="2800" dirty="0"/>
          </a:p>
          <a:p>
            <a:r>
              <a:rPr lang="es-CO" sz="2800" dirty="0" smtClean="0"/>
              <a:t>Terminales</a:t>
            </a:r>
            <a:r>
              <a:rPr lang="es-CO" sz="2800" dirty="0"/>
              <a:t>: variables y </a:t>
            </a:r>
            <a:r>
              <a:rPr lang="es-CO" sz="2800" dirty="0" smtClean="0"/>
              <a:t>constantes</a:t>
            </a:r>
          </a:p>
          <a:p>
            <a:r>
              <a:rPr lang="es-CO" sz="2800" dirty="0" smtClean="0"/>
              <a:t>Funciones</a:t>
            </a:r>
            <a:r>
              <a:rPr lang="es-CO" sz="2800" dirty="0"/>
              <a:t>: operaciones </a:t>
            </a:r>
            <a:r>
              <a:rPr lang="es-CO" sz="2800" dirty="0" smtClean="0"/>
              <a:t>propias del dominio</a:t>
            </a:r>
          </a:p>
          <a:p>
            <a:r>
              <a:rPr lang="es-CO" sz="2400" dirty="0" smtClean="0"/>
              <a:t>Propiedad </a:t>
            </a:r>
            <a:r>
              <a:rPr lang="es-CO" sz="2400" dirty="0"/>
              <a:t>de clausura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64110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/>
              <a:t>4. Medida de aptitud</a:t>
            </a:r>
          </a:p>
          <a:p>
            <a:r>
              <a:rPr lang="es-CO" sz="2400" dirty="0"/>
              <a:t>Cada programa de computador individual en la población, se mide en términos de qué tan bien se comporta en el ambiente del problema particular, la </a:t>
            </a:r>
            <a:r>
              <a:rPr lang="es-CO" sz="2400" i="1" dirty="0"/>
              <a:t>medida de aptitud</a:t>
            </a:r>
            <a:r>
              <a:rPr lang="es-CO" sz="2400" dirty="0"/>
              <a:t>. La naturaleza de la medida de aptitud varía con el problema. 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37425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/>
              <a:t>5. Parámetros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595223" y="2263931"/>
                <a:ext cx="4572000" cy="17543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>
                    <a:latin typeface="Calibri" panose="020F0502020204030204" pitchFamily="34" charset="0"/>
                  </a:rPr>
                  <a:t> número de árboles en la población</a:t>
                </a:r>
              </a:p>
              <a:p>
                <a:endParaRPr lang="es-CO" b="1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>
                    <a:latin typeface="Calibri" panose="020F0502020204030204" pitchFamily="34" charset="0"/>
                  </a:rPr>
                  <a:t> número de generaciones del algoritmo</a:t>
                </a:r>
              </a:p>
              <a:p>
                <a:endParaRPr lang="es-CO" b="1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>
                    <a:latin typeface="Calibri" panose="020F0502020204030204" pitchFamily="34" charset="0"/>
                  </a:rPr>
                  <a:t>función de aptitud aplicada </a:t>
                </a:r>
                <a:r>
                  <a:rPr lang="es-CO" dirty="0" smtClean="0">
                    <a:latin typeface="Calibri" panose="020F0502020204030204" pitchFamily="34" charset="0"/>
                  </a:rPr>
                  <a:t>al problema, no hay decodificación</a:t>
                </a:r>
                <a:endParaRPr lang="es-CO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23" y="2263931"/>
                <a:ext cx="4572000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1200" t="-1736" b="-45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34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/>
              <a:t>6</a:t>
            </a:r>
            <a:r>
              <a:rPr lang="es-CO" sz="2800" dirty="0" smtClean="0"/>
              <a:t>. Criterio de terminación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595222" y="2263931"/>
            <a:ext cx="48825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mejor individuo que aparece en cualquier generación de una corrida, es decir el mejor hasta ahora, normalmente se designa como el resultado producido por la corrida de PG. </a:t>
            </a:r>
            <a:endParaRPr lang="es-CO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02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Características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CO" sz="2800" dirty="0">
                <a:latin typeface="Calibri" panose="020F0502020204030204" pitchFamily="34" charset="0"/>
              </a:rPr>
              <a:t>Material genético no lineal y estructurado en árbol. </a:t>
            </a:r>
          </a:p>
          <a:p>
            <a:pPr lvl="0"/>
            <a:r>
              <a:rPr lang="es-CO" sz="2800" dirty="0">
                <a:latin typeface="Calibri" panose="020F0502020204030204" pitchFamily="34" charset="0"/>
              </a:rPr>
              <a:t>Material genético de longitud variable. </a:t>
            </a:r>
          </a:p>
          <a:p>
            <a:pPr lvl="0"/>
            <a:r>
              <a:rPr lang="es-CO" sz="2800" dirty="0" smtClean="0">
                <a:latin typeface="Calibri" panose="020F0502020204030204" pitchFamily="34" charset="0"/>
              </a:rPr>
              <a:t>Material </a:t>
            </a:r>
            <a:r>
              <a:rPr lang="es-CO" sz="2800" dirty="0">
                <a:latin typeface="Calibri" panose="020F0502020204030204" pitchFamily="34" charset="0"/>
              </a:rPr>
              <a:t>genético ejecutable. </a:t>
            </a:r>
          </a:p>
          <a:p>
            <a:pPr lvl="0"/>
            <a:r>
              <a:rPr lang="es-CO" sz="2800" dirty="0" smtClean="0">
                <a:latin typeface="Calibri" panose="020F0502020204030204" pitchFamily="34" charset="0"/>
              </a:rPr>
              <a:t>El </a:t>
            </a:r>
            <a:r>
              <a:rPr lang="es-CO" sz="2800" dirty="0">
                <a:latin typeface="Calibri" panose="020F0502020204030204" pitchFamily="34" charset="0"/>
              </a:rPr>
              <a:t>Cruce preserva la sintaxis. </a:t>
            </a:r>
          </a:p>
        </p:txBody>
      </p:sp>
    </p:spTree>
    <p:extLst>
      <p:ext uri="{BB962C8B-B14F-4D97-AF65-F5344CB8AC3E}">
        <p14:creationId xmlns:p14="http://schemas.microsoft.com/office/powerpoint/2010/main" val="250091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Programación Genética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Inicialización aleatoria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Evaluación de aptitud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Selección, cruce y mutación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Reemplazo de población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s-CO" dirty="0" smtClean="0"/>
          </a:p>
          <a:p>
            <a:r>
              <a:rPr lang="es-CO" sz="2800" dirty="0" smtClean="0">
                <a:latin typeface="Calibri" panose="020F0502020204030204" pitchFamily="34" charset="0"/>
              </a:rPr>
              <a:t>Selección</a:t>
            </a:r>
          </a:p>
          <a:p>
            <a:endParaRPr lang="es-CO" sz="2800" dirty="0" smtClean="0">
              <a:latin typeface="Calibri" panose="020F0502020204030204" pitchFamily="34" charset="0"/>
            </a:endParaRPr>
          </a:p>
          <a:p>
            <a:r>
              <a:rPr lang="es-CO" sz="2800" dirty="0" smtClean="0">
                <a:latin typeface="Calibri" panose="020F0502020204030204" pitchFamily="34" charset="0"/>
              </a:rPr>
              <a:t>Cruce</a:t>
            </a:r>
          </a:p>
          <a:p>
            <a:endParaRPr lang="es-CO" sz="2800" dirty="0" smtClean="0">
              <a:latin typeface="Calibri" panose="020F0502020204030204" pitchFamily="34" charset="0"/>
            </a:endParaRPr>
          </a:p>
          <a:p>
            <a:r>
              <a:rPr lang="es-CO" sz="2800" dirty="0" smtClean="0">
                <a:latin typeface="Calibri" panose="020F0502020204030204" pitchFamily="34" charset="0"/>
              </a:rPr>
              <a:t>Mutación</a:t>
            </a:r>
            <a:endParaRPr lang="es-CO" sz="28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02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s-CO" dirty="0" smtClean="0"/>
              </a:p>
              <a:p>
                <a:r>
                  <a:rPr lang="es-CO" sz="2800" dirty="0" smtClean="0">
                    <a:latin typeface="Calibri" panose="020F0502020204030204" pitchFamily="34" charset="0"/>
                  </a:rPr>
                  <a:t>Selección</a:t>
                </a:r>
              </a:p>
              <a:p>
                <a:pPr marL="0" indent="0">
                  <a:buNone/>
                </a:pPr>
                <a:r>
                  <a:rPr lang="es-CO" sz="2800" dirty="0">
                    <a:latin typeface="Calibri" panose="020F0502020204030204" pitchFamily="34" charset="0"/>
                  </a:rPr>
                  <a:t>C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iertos </a:t>
                </a:r>
                <a:r>
                  <a:rPr lang="es-CO" sz="2800" dirty="0">
                    <a:latin typeface="Calibri" panose="020F0502020204030204" pitchFamily="34" charset="0"/>
                  </a:rPr>
                  <a:t>á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rboles </a:t>
                </a:r>
                <a:r>
                  <a:rPr lang="es-CO" sz="2800" dirty="0">
                    <a:latin typeface="Calibri" panose="020F0502020204030204" pitchFamily="34" charset="0"/>
                  </a:rPr>
                  <a:t>se llevan a la siguiente generación, considerando su comportamiento con respecto a la función de aptitud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sz="2800" dirty="0">
                    <a:latin typeface="Calibri" panose="020F0502020204030204" pitchFamily="34" charset="0"/>
                  </a:rPr>
                  <a:t> y 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al resto </a:t>
                </a:r>
                <a:r>
                  <a:rPr lang="es-CO" sz="2800" dirty="0">
                    <a:latin typeface="Calibri" panose="020F0502020204030204" pitchFamily="34" charset="0"/>
                  </a:rPr>
                  <a:t>de la 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población.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90" r="-94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47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sz="1800" dirty="0" smtClean="0">
                <a:latin typeface="Calibri" panose="020F0502020204030204" pitchFamily="34" charset="0"/>
              </a:rPr>
              <a:t>Selección</a:t>
            </a:r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54" y="1761414"/>
            <a:ext cx="4179507" cy="2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7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CO" sz="2800" dirty="0" smtClean="0">
                    <a:latin typeface="Calibri" panose="020F0502020204030204" pitchFamily="34" charset="0"/>
                  </a:rPr>
                  <a:t>Cruce</a:t>
                </a:r>
              </a:p>
              <a:p>
                <a:r>
                  <a:rPr lang="es-CO" sz="2400" dirty="0"/>
                  <a:t>El cruce </a:t>
                </a:r>
                <a:r>
                  <a:rPr lang="es-CO" sz="2400" dirty="0" smtClean="0"/>
                  <a:t>opera </a:t>
                </a:r>
                <a:r>
                  <a:rPr lang="es-CO" sz="2400" dirty="0"/>
                  <a:t>sobre dos programas padres y produce dos nuevos programas hijos </a:t>
                </a:r>
                <a:r>
                  <a:rPr lang="es-CO" sz="2400" dirty="0" smtClean="0"/>
                  <a:t>consistentes, </a:t>
                </a:r>
                <a:r>
                  <a:rPr lang="es-CO" sz="2400" dirty="0"/>
                  <a:t>de partes de cada padre. </a:t>
                </a:r>
              </a:p>
              <a:p>
                <a:pPr marL="0" indent="0">
                  <a:buNone/>
                </a:pPr>
                <a:endParaRPr lang="es-CO" sz="2400" dirty="0" smtClean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 ↑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sz="2400" dirty="0"/>
                  <a:t>  y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↑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CO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34" t="-2096" r="-7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30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5" name="Imagen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46" y="2047126"/>
            <a:ext cx="2360295" cy="1825625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130" y="2034108"/>
            <a:ext cx="2237740" cy="1851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879894" y="4056717"/>
                <a:ext cx="5193101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↑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s-CO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s-CO" dirty="0" smtClean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↑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s-CO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94" y="4056717"/>
                <a:ext cx="5193101" cy="388696"/>
              </a:xfrm>
              <a:prstGeom prst="rect">
                <a:avLst/>
              </a:prstGeom>
              <a:blipFill rotWithShape="0"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71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5" name="Imagen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92" y="2165230"/>
            <a:ext cx="1689104" cy="1332672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98" y="2165230"/>
            <a:ext cx="1687496" cy="1352112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44" y="3497902"/>
            <a:ext cx="879403" cy="890789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5"/>
          <a:stretch>
            <a:fillRect/>
          </a:stretch>
        </p:blipFill>
        <p:spPr>
          <a:xfrm>
            <a:off x="2474625" y="3517342"/>
            <a:ext cx="495300" cy="561975"/>
          </a:xfrm>
          <a:prstGeom prst="rect">
            <a:avLst/>
          </a:prstGeom>
          <a:solidFill>
            <a:srgbClr val="0070C0"/>
          </a:solidFill>
        </p:spPr>
      </p:pic>
    </p:spTree>
    <p:extLst>
      <p:ext uri="{BB962C8B-B14F-4D97-AF65-F5344CB8AC3E}">
        <p14:creationId xmlns:p14="http://schemas.microsoft.com/office/powerpoint/2010/main" val="313665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8" name="Imagen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74" y="2065147"/>
            <a:ext cx="1988820" cy="1799590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459" y="2065147"/>
            <a:ext cx="1795145" cy="1808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934973" y="4018605"/>
                <a:ext cx="5828136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CO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s-CO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s-CO" dirty="0" smtClean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)+((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d>
                          <m:dPr>
                            <m:ctrlP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  <m: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  <m:r>
                              <a:rPr lang="es-CO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↑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s-CO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73" y="4018605"/>
                <a:ext cx="5828136" cy="388696"/>
              </a:xfrm>
              <a:prstGeom prst="rect">
                <a:avLst/>
              </a:prstGeom>
              <a:blipFill rotWithShape="0"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64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 smtClean="0">
                <a:latin typeface="Calibri" panose="020F0502020204030204" pitchFamily="34" charset="0"/>
              </a:rPr>
              <a:t>Mutación</a:t>
            </a:r>
          </a:p>
          <a:p>
            <a:r>
              <a:rPr lang="es-CO" sz="2400" dirty="0" smtClean="0">
                <a:latin typeface="Calibri" panose="020F0502020204030204" pitchFamily="34" charset="0"/>
              </a:rPr>
              <a:t>Permite explorar otras áreas del espacio de soluciones, por posibles picos de optimización.</a:t>
            </a:r>
          </a:p>
          <a:p>
            <a:r>
              <a:rPr lang="es-CO" sz="2400" dirty="0" smtClean="0">
                <a:latin typeface="Calibri" panose="020F0502020204030204" pitchFamily="34" charset="0"/>
              </a:rPr>
              <a:t>Se escoge al azar un terminal, del conjunto de terminales; o una función del conjunto de funciones. 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208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Programación Genética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12505" y="1458234"/>
            <a:ext cx="4372610" cy="252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Recorrido de árb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oles binarios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 err="1" smtClean="0"/>
              <a:t>Preorden</a:t>
            </a:r>
            <a:endParaRPr lang="es-CO" sz="2400" dirty="0" smtClean="0"/>
          </a:p>
          <a:p>
            <a:r>
              <a:rPr lang="es-CO" sz="2400" dirty="0" err="1" smtClean="0"/>
              <a:t>Inorden</a:t>
            </a:r>
            <a:endParaRPr lang="es-CO" sz="2400" dirty="0" smtClean="0"/>
          </a:p>
          <a:p>
            <a:r>
              <a:rPr lang="es-CO" sz="2400" dirty="0" err="1" smtClean="0"/>
              <a:t>Postorden</a:t>
            </a:r>
            <a:endParaRPr lang="es-CO" sz="2400" dirty="0"/>
          </a:p>
          <a:p>
            <a:pPr lvl="1"/>
            <a:r>
              <a:rPr lang="es-CO" sz="2400" dirty="0"/>
              <a:t>Importante para </a:t>
            </a:r>
            <a:r>
              <a:rPr lang="es-CO" sz="2400" dirty="0" smtClean="0"/>
              <a:t>la ejecución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9156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Generación de árb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oles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/>
              <a:t>Selección aleatoria de </a:t>
            </a:r>
            <a:r>
              <a:rPr lang="es-CO" sz="2400" dirty="0" smtClean="0"/>
              <a:t>funciones</a:t>
            </a:r>
          </a:p>
          <a:p>
            <a:r>
              <a:rPr lang="es-CO" sz="2400" dirty="0"/>
              <a:t>Selección aleatoria </a:t>
            </a:r>
            <a:r>
              <a:rPr lang="es-CO" sz="2400" dirty="0" smtClean="0"/>
              <a:t>de terminales</a:t>
            </a:r>
            <a:endParaRPr lang="es-CO" sz="2400" dirty="0"/>
          </a:p>
          <a:p>
            <a:pPr lvl="1"/>
            <a:r>
              <a:rPr lang="es-CO" sz="2400" dirty="0"/>
              <a:t>Sustitución de terminales por subárboles</a:t>
            </a:r>
          </a:p>
          <a:p>
            <a:pPr lvl="1"/>
            <a:r>
              <a:rPr lang="es-CO" sz="2400" dirty="0"/>
              <a:t>Control de profundidad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0111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Generación de árb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oles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/>
              <a:t>Selección aleatoria de </a:t>
            </a:r>
            <a:r>
              <a:rPr lang="es-CO" sz="2400" dirty="0" smtClean="0"/>
              <a:t>funciones</a:t>
            </a:r>
          </a:p>
          <a:p>
            <a:r>
              <a:rPr lang="es-CO" sz="2400" dirty="0"/>
              <a:t>Selección aleatoria </a:t>
            </a:r>
            <a:r>
              <a:rPr lang="es-CO" sz="2400" dirty="0" smtClean="0"/>
              <a:t>de terminales</a:t>
            </a:r>
            <a:endParaRPr lang="es-CO" sz="2400" dirty="0"/>
          </a:p>
          <a:p>
            <a:pPr lvl="1"/>
            <a:r>
              <a:rPr lang="es-CO" sz="2400" dirty="0"/>
              <a:t>Sustitución de terminales por subárboles</a:t>
            </a:r>
          </a:p>
          <a:p>
            <a:pPr lvl="1"/>
            <a:r>
              <a:rPr lang="es-CO" sz="2400" dirty="0"/>
              <a:t>Control de profundidad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07696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Aplicación: regresión simbólica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/>
              <a:t>Encontrar función algebraica desconocida</a:t>
            </a:r>
          </a:p>
          <a:p>
            <a:pPr lvl="1"/>
            <a:r>
              <a:rPr lang="es-CO" sz="2400" dirty="0"/>
              <a:t>Ajuste a datos experimentales</a:t>
            </a:r>
          </a:p>
          <a:p>
            <a:pPr lvl="1"/>
            <a:r>
              <a:rPr lang="es-CO" sz="2400" dirty="0"/>
              <a:t>Aptitud inversamente proporcional al error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91613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MEPX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/>
              <a:t>Herramienta para PG</a:t>
            </a:r>
          </a:p>
          <a:p>
            <a:pPr lvl="1"/>
            <a:r>
              <a:rPr lang="es-CO" sz="2400" dirty="0"/>
              <a:t>Aplicaciones en clasificación y regresión</a:t>
            </a:r>
          </a:p>
          <a:p>
            <a:pPr lvl="1"/>
            <a:r>
              <a:rPr lang="es-CO" sz="2400" dirty="0"/>
              <a:t>Genera código automático en </a:t>
            </a:r>
            <a:r>
              <a:rPr lang="es-CO" sz="2400" dirty="0" err="1" smtClean="0"/>
              <a:t>Python</a:t>
            </a:r>
            <a:r>
              <a:rPr lang="es-CO" sz="2400" dirty="0" smtClean="0"/>
              <a:t> o C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53201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MEPX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645" y="1552756"/>
            <a:ext cx="6098981" cy="297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7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662</TotalTime>
  <Words>592</Words>
  <Application>Microsoft Office PowerPoint</Application>
  <PresentationFormat>Presentación en pantalla (16:9)</PresentationFormat>
  <Paragraphs>116</Paragraphs>
  <Slides>29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 Math</vt:lpstr>
      <vt:lpstr>Times New Roman</vt:lpstr>
      <vt:lpstr>Trebuchet MS</vt:lpstr>
      <vt:lpstr>Wingdings 3</vt:lpstr>
      <vt:lpstr>Faceta</vt:lpstr>
      <vt:lpstr>Programación Genética</vt:lpstr>
      <vt:lpstr>Presentación de PowerPoint</vt:lpstr>
      <vt:lpstr>Introducción a la PG</vt:lpstr>
      <vt:lpstr>Concepto General de la PG</vt:lpstr>
      <vt:lpstr>Estructura de datos de la PG</vt:lpstr>
      <vt:lpstr>Pasos para aplicar la PG</vt:lpstr>
      <vt:lpstr>Pasos para aplicar la PG</vt:lpstr>
      <vt:lpstr>Pasos para aplicar la PG</vt:lpstr>
      <vt:lpstr>Pasos para aplicar la PG</vt:lpstr>
      <vt:lpstr>Pasos para aplicar la PG</vt:lpstr>
      <vt:lpstr>Pasos para aplicar la PG</vt:lpstr>
      <vt:lpstr>Características</vt:lpstr>
      <vt:lpstr>Programación Genética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Programación Genética</vt:lpstr>
      <vt:lpstr>Recorrido de árboles binarios</vt:lpstr>
      <vt:lpstr>Generación de árboles</vt:lpstr>
      <vt:lpstr>Generación de árboles</vt:lpstr>
      <vt:lpstr>Aplicación: regresión simbólica</vt:lpstr>
      <vt:lpstr>MEPX</vt:lpstr>
      <vt:lpstr>MEPX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90</cp:revision>
  <dcterms:created xsi:type="dcterms:W3CDTF">2026-02-02T17:28:11Z</dcterms:created>
  <dcterms:modified xsi:type="dcterms:W3CDTF">2026-02-17T14:51:22Z</dcterms:modified>
</cp:coreProperties>
</file>