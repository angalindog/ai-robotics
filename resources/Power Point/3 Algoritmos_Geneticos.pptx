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27"/>
  </p:notesMasterIdLst>
  <p:sldIdLst>
    <p:sldId id="321" r:id="rId2"/>
    <p:sldId id="322" r:id="rId3"/>
    <p:sldId id="323" r:id="rId4"/>
    <p:sldId id="343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7" r:id="rId19"/>
    <p:sldId id="345" r:id="rId20"/>
    <p:sldId id="339" r:id="rId21"/>
    <p:sldId id="340" r:id="rId22"/>
    <p:sldId id="341" r:id="rId23"/>
    <p:sldId id="344" r:id="rId24"/>
    <p:sldId id="342" r:id="rId25"/>
    <p:sldId id="279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285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574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404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9523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3111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68195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54021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404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2042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1114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508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28017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09945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60213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38058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63790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54404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25409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62421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84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139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457870"/>
            <a:ext cx="5825202" cy="631357"/>
          </a:xfrm>
        </p:spPr>
        <p:txBody>
          <a:bodyPr/>
          <a:lstStyle/>
          <a:p>
            <a:r>
              <a:rPr lang="es-CO" sz="4800" dirty="0" smtClean="0">
                <a:solidFill>
                  <a:schemeClr val="accent2">
                    <a:lumMod val="75000"/>
                  </a:schemeClr>
                </a:solidFill>
              </a:rPr>
              <a:t>Algoritmos</a:t>
            </a:r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 Genéticos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3705843" y="3025200"/>
            <a:ext cx="1737421" cy="239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José J. Martínez P.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163646" y="3558315"/>
            <a:ext cx="816709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Febrero 2026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354515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Contexto de IA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sz="2000" dirty="0" smtClean="0">
                <a:latin typeface="Calibri" panose="020F0502020204030204" pitchFamily="34" charset="0"/>
              </a:rPr>
              <a:t>Problemas de alta complejidad computacional</a:t>
            </a:r>
          </a:p>
          <a:p>
            <a:pPr lvl="1"/>
            <a:r>
              <a:rPr lang="es-CO" sz="2000" dirty="0" smtClean="0">
                <a:latin typeface="Calibri" panose="020F0502020204030204" pitchFamily="34" charset="0"/>
              </a:rPr>
              <a:t>Uso de sistemas </a:t>
            </a:r>
            <a:r>
              <a:rPr lang="es-CO" sz="2000" dirty="0" err="1" smtClean="0">
                <a:latin typeface="Calibri" panose="020F0502020204030204" pitchFamily="34" charset="0"/>
              </a:rPr>
              <a:t>bioinspirados</a:t>
            </a:r>
            <a:endParaRPr lang="es-CO" sz="2000" dirty="0" smtClean="0">
              <a:latin typeface="Calibri" panose="020F0502020204030204" pitchFamily="34" charset="0"/>
            </a:endParaRPr>
          </a:p>
          <a:p>
            <a:pPr lvl="2"/>
            <a:r>
              <a:rPr lang="es-CO" sz="2000" dirty="0" smtClean="0">
                <a:latin typeface="Calibri" panose="020F0502020204030204" pitchFamily="34" charset="0"/>
              </a:rPr>
              <a:t>Colonia </a:t>
            </a:r>
            <a:r>
              <a:rPr lang="es-CO" sz="2000" dirty="0">
                <a:latin typeface="Calibri" panose="020F0502020204030204" pitchFamily="34" charset="0"/>
              </a:rPr>
              <a:t>de Hormigas</a:t>
            </a:r>
          </a:p>
          <a:p>
            <a:pPr lvl="2"/>
            <a:r>
              <a:rPr lang="es-CO" sz="2000" dirty="0">
                <a:latin typeface="Calibri" panose="020F0502020204030204" pitchFamily="34" charset="0"/>
              </a:rPr>
              <a:t>Recocido Simulado</a:t>
            </a:r>
          </a:p>
          <a:p>
            <a:pPr lvl="2"/>
            <a:r>
              <a:rPr lang="es-CO" sz="2000" dirty="0">
                <a:latin typeface="Calibri" panose="020F0502020204030204" pitchFamily="34" charset="0"/>
              </a:rPr>
              <a:t>Inteligencia de </a:t>
            </a:r>
            <a:r>
              <a:rPr lang="es-CO" sz="2000" dirty="0" smtClean="0">
                <a:latin typeface="Calibri" panose="020F0502020204030204" pitchFamily="34" charset="0"/>
              </a:rPr>
              <a:t>Enjambre</a:t>
            </a:r>
          </a:p>
          <a:p>
            <a:pPr lvl="2"/>
            <a:r>
              <a:rPr lang="es-CO" sz="2000" dirty="0" smtClean="0">
                <a:latin typeface="Calibri" panose="020F0502020204030204" pitchFamily="34" charset="0"/>
              </a:rPr>
              <a:t>Lobo Gris</a:t>
            </a:r>
          </a:p>
          <a:p>
            <a:pPr lvl="2"/>
            <a:r>
              <a:rPr lang="es-CO" sz="2000" dirty="0" smtClean="0">
                <a:latin typeface="Calibri" panose="020F0502020204030204" pitchFamily="34" charset="0"/>
              </a:rPr>
              <a:t>Algoritmos Genéticos, </a:t>
            </a:r>
            <a:r>
              <a:rPr lang="es-CO" sz="2000" dirty="0" err="1" smtClean="0">
                <a:latin typeface="Calibri" panose="020F0502020204030204" pitchFamily="34" charset="0"/>
              </a:rPr>
              <a:t>AGs</a:t>
            </a:r>
            <a:endParaRPr lang="es-CO" sz="2000" dirty="0">
              <a:latin typeface="Calibri" panose="020F0502020204030204" pitchFamily="34" charset="0"/>
            </a:endParaRPr>
          </a:p>
          <a:p>
            <a:pPr lvl="1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8399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Contexto </a:t>
            </a:r>
            <a:r>
              <a:rPr dirty="0" smtClean="0">
                <a:solidFill>
                  <a:schemeClr val="accent2">
                    <a:lumMod val="75000"/>
                  </a:schemeClr>
                </a:solidFill>
              </a:rPr>
              <a:t>de IA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178793"/>
            <a:ext cx="6447501" cy="2910580"/>
          </a:xfrm>
        </p:spPr>
        <p:txBody>
          <a:bodyPr/>
          <a:lstStyle/>
          <a:p>
            <a:r>
              <a:rPr lang="es-CO" sz="1800" dirty="0" smtClean="0">
                <a:latin typeface="Calibri" panose="020F0502020204030204" pitchFamily="34" charset="0"/>
              </a:rPr>
              <a:t>Problemas de alta complejidad computacional</a:t>
            </a:r>
          </a:p>
          <a:p>
            <a:endParaRPr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797" y="1543607"/>
            <a:ext cx="4621762" cy="330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930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4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400"/>
              </a:lnSpc>
            </a:pPr>
            <a:r>
              <a:rPr lang="es-CO" sz="2800" dirty="0">
                <a:solidFill>
                  <a:schemeClr val="accent2">
                    <a:lumMod val="75000"/>
                  </a:schemeClr>
                </a:solidFill>
              </a:rPr>
              <a:t>Historia</a:t>
            </a:r>
            <a:endParaRPr lang="en-US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254937" y="1249495"/>
            <a:ext cx="7620166" cy="157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30"/>
              </a:lnSpc>
              <a:buSzPct val="100000"/>
            </a:pPr>
            <a:endParaRPr lang="en-US" sz="3200" dirty="0" smtClean="0">
              <a:latin typeface="Calibri" panose="020F0502020204030204" pitchFamily="34" charset="0"/>
              <a:ea typeface="Arial" pitchFamily="34" charset="-122"/>
              <a:cs typeface="Arial" pitchFamily="34" charset="-12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973" y="1598095"/>
            <a:ext cx="4678377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39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Introducción a los </a:t>
            </a:r>
            <a:r>
              <a:rPr lang="es-CO" sz="2800" dirty="0" err="1" smtClean="0">
                <a:solidFill>
                  <a:schemeClr val="accent2">
                    <a:lumMod val="75000"/>
                  </a:schemeClr>
                </a:solidFill>
              </a:rPr>
              <a:t>AGs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latin typeface="Calibri" panose="020F0502020204030204" pitchFamily="34" charset="0"/>
              </a:rPr>
              <a:t>Desarrollados en los años 60 y 70</a:t>
            </a:r>
          </a:p>
          <a:p>
            <a:pPr lvl="1"/>
            <a:r>
              <a:rPr lang="es-CO" sz="2800" dirty="0" smtClean="0">
                <a:latin typeface="Calibri" panose="020F0502020204030204" pitchFamily="34" charset="0"/>
              </a:rPr>
              <a:t>John </a:t>
            </a:r>
            <a:r>
              <a:rPr lang="es-CO" sz="2800" dirty="0" err="1" smtClean="0">
                <a:latin typeface="Calibri" panose="020F0502020204030204" pitchFamily="34" charset="0"/>
              </a:rPr>
              <a:t>Holland</a:t>
            </a:r>
            <a:r>
              <a:rPr lang="es-CO" sz="2800" dirty="0" smtClean="0">
                <a:latin typeface="Calibri" panose="020F0502020204030204" pitchFamily="34" charset="0"/>
              </a:rPr>
              <a:t>, </a:t>
            </a:r>
            <a:r>
              <a:rPr lang="es-CO" sz="2800" dirty="0" smtClean="0">
                <a:latin typeface="Calibri" panose="020F0502020204030204" pitchFamily="34" charset="0"/>
              </a:rPr>
              <a:t>Universidad de Michigan</a:t>
            </a:r>
          </a:p>
          <a:p>
            <a:pPr lvl="1"/>
            <a:r>
              <a:rPr lang="es-CO" sz="2800" dirty="0" smtClean="0">
                <a:latin typeface="Calibri" panose="020F0502020204030204" pitchFamily="34" charset="0"/>
              </a:rPr>
              <a:t>Inspirados en la evolución natural</a:t>
            </a:r>
            <a:endParaRPr lang="es-CO" sz="2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887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Concepto </a:t>
            </a:r>
            <a:r>
              <a:rPr sz="2800" dirty="0" smtClean="0">
                <a:solidFill>
                  <a:schemeClr val="accent2">
                    <a:lumMod val="75000"/>
                  </a:schemeClr>
                </a:solidFill>
              </a:rPr>
              <a:t>General </a:t>
            </a: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de un 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latin typeface="Calibri" panose="020F0502020204030204" pitchFamily="34" charset="0"/>
              </a:rPr>
              <a:t>Población de soluciones candidatas</a:t>
            </a:r>
          </a:p>
          <a:p>
            <a:r>
              <a:rPr lang="es-CO" sz="2800" dirty="0" smtClean="0">
                <a:latin typeface="Calibri" panose="020F0502020204030204" pitchFamily="34" charset="0"/>
              </a:rPr>
              <a:t>Evaluación mediante función de aptitud</a:t>
            </a:r>
          </a:p>
          <a:p>
            <a:r>
              <a:rPr lang="es-CO" sz="2800" dirty="0" smtClean="0">
                <a:latin typeface="Calibri" panose="020F0502020204030204" pitchFamily="34" charset="0"/>
              </a:rPr>
              <a:t>Evolución por generaciones</a:t>
            </a:r>
            <a:endParaRPr lang="es-CO" sz="2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56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Analogía Biológica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1106" y="1967203"/>
            <a:ext cx="5000625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527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Parámetros Principales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s-CO" b="1" i="1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es-CO" dirty="0"/>
                  <a:t>: número de genes del cromosoma; en AGS, número de bits o longitud del cromosoma</a:t>
                </a:r>
              </a:p>
              <a:p>
                <a14:m>
                  <m:oMath xmlns:m="http://schemas.openxmlformats.org/officeDocument/2006/math">
                    <m:r>
                      <a:rPr lang="es-CO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s-CO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s-CO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O" dirty="0"/>
                  <a:t>un gen cualquiera del cromosoma</a:t>
                </a:r>
              </a:p>
              <a:p>
                <a14:m>
                  <m:oMath xmlns:m="http://schemas.openxmlformats.org/officeDocument/2006/math">
                    <m:r>
                      <a:rPr lang="es-CO" b="1" i="1">
                        <a:latin typeface="Cambria Math" panose="02040503050406030204" pitchFamily="18" charset="0"/>
                      </a:rPr>
                      <m:t>𝑲</m:t>
                    </m:r>
                    <m:r>
                      <a:rPr lang="es-CO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CO" dirty="0"/>
                  <a:t> número de cromosomas en la población</a:t>
                </a:r>
              </a:p>
              <a:p>
                <a14:m>
                  <m:oMath xmlns:m="http://schemas.openxmlformats.org/officeDocument/2006/math">
                    <m:r>
                      <a:rPr lang="es-CO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es-CO" i="1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s-CO" dirty="0"/>
                  <a:t> número de generaciones del algoritmo</a:t>
                </a:r>
              </a:p>
              <a:p>
                <a14:m>
                  <m:oMath xmlns:m="http://schemas.openxmlformats.org/officeDocument/2006/math">
                    <m:r>
                      <a:rPr lang="es-CO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CO" i="1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s-CO" dirty="0"/>
                  <a:t> el valor que representa un cromosoma; el cromosoma decodificado</a:t>
                </a:r>
              </a:p>
              <a:p>
                <a14:m>
                  <m:oMath xmlns:m="http://schemas.openxmlformats.org/officeDocument/2006/math">
                    <m:r>
                      <a:rPr lang="es-CO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s-CO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CO" i="1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s-CO" dirty="0"/>
                  <a:t>función de aptitud aplicada en el punto </a:t>
                </a:r>
                <a14:m>
                  <m:oMath xmlns:m="http://schemas.openxmlformats.org/officeDocument/2006/math">
                    <m:r>
                      <a:rPr lang="es-CO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CO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CO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62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5571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Operadores Genéticos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s-CO" dirty="0" smtClean="0"/>
          </a:p>
          <a:p>
            <a:r>
              <a:rPr lang="es-CO" sz="2800" dirty="0" smtClean="0">
                <a:latin typeface="Calibri" panose="020F0502020204030204" pitchFamily="34" charset="0"/>
              </a:rPr>
              <a:t>Selección</a:t>
            </a:r>
          </a:p>
          <a:p>
            <a:endParaRPr lang="es-CO" sz="2800" dirty="0" smtClean="0">
              <a:latin typeface="Calibri" panose="020F0502020204030204" pitchFamily="34" charset="0"/>
            </a:endParaRPr>
          </a:p>
          <a:p>
            <a:r>
              <a:rPr lang="es-CO" sz="2800" dirty="0" smtClean="0">
                <a:latin typeface="Calibri" panose="020F0502020204030204" pitchFamily="34" charset="0"/>
              </a:rPr>
              <a:t>Cruce</a:t>
            </a:r>
          </a:p>
          <a:p>
            <a:endParaRPr lang="es-CO" sz="2800" dirty="0" smtClean="0">
              <a:latin typeface="Calibri" panose="020F0502020204030204" pitchFamily="34" charset="0"/>
            </a:endParaRPr>
          </a:p>
          <a:p>
            <a:r>
              <a:rPr lang="es-CO" sz="2800" dirty="0" smtClean="0">
                <a:latin typeface="Calibri" panose="020F0502020204030204" pitchFamily="34" charset="0"/>
              </a:rPr>
              <a:t>Mutación</a:t>
            </a:r>
            <a:endParaRPr lang="es-CO" sz="2800" dirty="0">
              <a:latin typeface="Calibri" panose="020F0502020204030204" pitchFamily="34" charset="0"/>
            </a:endParaRP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02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Operadores Genéticos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es-CO" dirty="0" smtClean="0"/>
              </a:p>
              <a:p>
                <a:r>
                  <a:rPr lang="es-CO" sz="2800" dirty="0" smtClean="0">
                    <a:latin typeface="Calibri" panose="020F0502020204030204" pitchFamily="34" charset="0"/>
                  </a:rPr>
                  <a:t>Selección</a:t>
                </a:r>
              </a:p>
              <a:p>
                <a:pPr marL="0" indent="0">
                  <a:buNone/>
                </a:pPr>
                <a:r>
                  <a:rPr lang="es-CO" sz="2800" dirty="0">
                    <a:latin typeface="Calibri" panose="020F0502020204030204" pitchFamily="34" charset="0"/>
                  </a:rPr>
                  <a:t>C</a:t>
                </a:r>
                <a:r>
                  <a:rPr lang="es-CO" sz="2800" dirty="0" smtClean="0">
                    <a:latin typeface="Calibri" panose="020F0502020204030204" pitchFamily="34" charset="0"/>
                  </a:rPr>
                  <a:t>iertos </a:t>
                </a:r>
                <a:r>
                  <a:rPr lang="es-CO" sz="2800" dirty="0">
                    <a:latin typeface="Calibri" panose="020F0502020204030204" pitchFamily="34" charset="0"/>
                  </a:rPr>
                  <a:t>cromosomas se llevan a la siguiente generación, considerando su comportamiento con respecto a la función de aptitud </a:t>
                </a:r>
                <a14:m>
                  <m:oMath xmlns:m="http://schemas.openxmlformats.org/officeDocument/2006/math">
                    <m:r>
                      <a:rPr lang="es-CO" sz="28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s-CO" sz="2800" dirty="0">
                    <a:latin typeface="Calibri" panose="020F0502020204030204" pitchFamily="34" charset="0"/>
                  </a:rPr>
                  <a:t> y </a:t>
                </a:r>
                <a:r>
                  <a:rPr lang="es-CO" sz="2800" dirty="0" smtClean="0">
                    <a:latin typeface="Calibri" panose="020F0502020204030204" pitchFamily="34" charset="0"/>
                  </a:rPr>
                  <a:t>al resto </a:t>
                </a:r>
                <a:r>
                  <a:rPr lang="es-CO" sz="2800" dirty="0">
                    <a:latin typeface="Calibri" panose="020F0502020204030204" pitchFamily="34" charset="0"/>
                  </a:rPr>
                  <a:t>de la población</a:t>
                </a:r>
                <a:endParaRPr lang="es-CO" sz="2800" dirty="0" smtClean="0">
                  <a:latin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90" r="-283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9478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Operadores Genéticos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 smtClean="0"/>
          </a:p>
          <a:p>
            <a:r>
              <a:rPr lang="es-CO" sz="1800" dirty="0" smtClean="0">
                <a:latin typeface="Calibri" panose="020F0502020204030204" pitchFamily="34" charset="0"/>
              </a:rPr>
              <a:t>Selección</a:t>
            </a:r>
          </a:p>
          <a:p>
            <a:endParaRPr lang="es-CO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154" y="1761414"/>
            <a:ext cx="4179507" cy="276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370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Operadores Genéticos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s-CO" sz="2800" dirty="0" smtClean="0">
                    <a:latin typeface="Calibri" panose="020F0502020204030204" pitchFamily="34" charset="0"/>
                  </a:rPr>
                  <a:t>Cruce</a:t>
                </a:r>
              </a:p>
              <a:p>
                <a:pPr marL="0" indent="0">
                  <a:buNone/>
                </a:pPr>
                <a:r>
                  <a:rPr lang="es-CO" sz="2800" dirty="0">
                    <a:latin typeface="Calibri" panose="020F0502020204030204" pitchFamily="34" charset="0"/>
                  </a:rPr>
                  <a:t>L</a:t>
                </a:r>
                <a:r>
                  <a:rPr lang="es-CO" sz="2800" dirty="0" smtClean="0">
                    <a:latin typeface="Calibri" panose="020F0502020204030204" pitchFamily="34" charset="0"/>
                  </a:rPr>
                  <a:t>os </a:t>
                </a:r>
                <a:r>
                  <a:rPr lang="es-CO" sz="2800" dirty="0">
                    <a:latin typeface="Calibri" panose="020F0502020204030204" pitchFamily="34" charset="0"/>
                  </a:rPr>
                  <a:t>cromosomas seleccionados como padres entran en el juego del apareamiento, mezclándose al azar. </a:t>
                </a:r>
                <a:endParaRPr lang="es-CO" sz="2800" dirty="0" smtClean="0">
                  <a:latin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s-CO" sz="2800" dirty="0">
                    <a:latin typeface="Calibri" panose="020F0502020204030204" pitchFamily="34" charset="0"/>
                  </a:rPr>
                  <a:t>S</a:t>
                </a:r>
                <a:r>
                  <a:rPr lang="es-CO" sz="2800" dirty="0" smtClean="0">
                    <a:latin typeface="Calibri" panose="020F0502020204030204" pitchFamily="34" charset="0"/>
                  </a:rPr>
                  <a:t>e </a:t>
                </a:r>
                <a:r>
                  <a:rPr lang="es-CO" sz="2800" dirty="0">
                    <a:latin typeface="Calibri" panose="020F0502020204030204" pitchFamily="34" charset="0"/>
                  </a:rPr>
                  <a:t>efectúa el cruce al azar de cada par de listas como sigue: se selecciona con probabilidad uniforme, una posición </a:t>
                </a:r>
                <a14:m>
                  <m:oMath xmlns:m="http://schemas.openxmlformats.org/officeDocument/2006/math">
                    <m:r>
                      <a:rPr lang="es-CO" sz="2800" b="1" i="1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s-CO" sz="2800" dirty="0">
                    <a:latin typeface="Calibri" panose="020F0502020204030204" pitchFamily="34" charset="0"/>
                  </a:rPr>
                  <a:t>, entre </a:t>
                </a:r>
                <a14:m>
                  <m:oMath xmlns:m="http://schemas.openxmlformats.org/officeDocument/2006/math">
                    <m:r>
                      <a:rPr lang="es-CO" sz="28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s-CO" sz="2800" b="1" dirty="0">
                    <a:latin typeface="Calibri" panose="020F0502020204030204" pitchFamily="34" charset="0"/>
                  </a:rPr>
                  <a:t> </a:t>
                </a:r>
                <a:r>
                  <a:rPr lang="es-CO" sz="2800" dirty="0">
                    <a:latin typeface="Calibri" panose="020F0502020204030204" pitchFamily="34" charset="0"/>
                  </a:rPr>
                  <a:t>y la longitud </a:t>
                </a:r>
                <a14:m>
                  <m:oMath xmlns:m="http://schemas.openxmlformats.org/officeDocument/2006/math">
                    <m:r>
                      <a:rPr lang="es-CO" sz="2800" b="1" i="1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es-CO" sz="2800" dirty="0">
                    <a:latin typeface="Calibri" panose="020F0502020204030204" pitchFamily="34" charset="0"/>
                  </a:rPr>
                  <a:t> de la lista menos </a:t>
                </a:r>
                <a:r>
                  <a:rPr lang="es-CO" sz="2800" b="1" dirty="0">
                    <a:latin typeface="Calibri" panose="020F0502020204030204" pitchFamily="34" charset="0"/>
                  </a:rPr>
                  <a:t>1, </a:t>
                </a:r>
                <a14:m>
                  <m:oMath xmlns:m="http://schemas.openxmlformats.org/officeDocument/2006/math">
                    <m:r>
                      <a:rPr lang="es-CO" sz="28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s-CO" sz="28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CO" sz="28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CO" sz="2800" b="1" i="1">
                        <a:latin typeface="Cambria Math" panose="02040503050406030204" pitchFamily="18" charset="0"/>
                      </a:rPr>
                      <m:t>𝒍</m:t>
                    </m:r>
                    <m:r>
                      <a:rPr lang="es-CO" sz="2800" b="1" i="1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s-CO" sz="28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CO" sz="28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s-CO" sz="2800" dirty="0">
                    <a:latin typeface="Calibri" panose="020F0502020204030204" pitchFamily="34" charset="0"/>
                  </a:rPr>
                  <a:t>. </a:t>
                </a:r>
                <a:endParaRPr sz="2800" dirty="0">
                  <a:latin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1" t="-4193" r="-2552" b="-293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7300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Operadores Genéticos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sz="2400" dirty="0" smtClean="0"/>
              <a:t>Cruce</a:t>
            </a:r>
          </a:p>
          <a:p>
            <a:endParaRPr lang="es-CO" dirty="0" smtClean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241" y="1763034"/>
            <a:ext cx="4518187" cy="231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713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Operadores Genéticos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s-CO" sz="2400" dirty="0" smtClean="0">
                    <a:latin typeface="Calibri" panose="020F0502020204030204" pitchFamily="34" charset="0"/>
                  </a:rPr>
                  <a:t>Mutación</a:t>
                </a:r>
              </a:p>
              <a:p>
                <a:pPr marL="0" indent="0">
                  <a:buNone/>
                </a:pPr>
                <a:r>
                  <a:rPr lang="es-CO" sz="2400" dirty="0">
                    <a:latin typeface="Calibri" panose="020F0502020204030204" pitchFamily="34" charset="0"/>
                  </a:rPr>
                  <a:t>O</a:t>
                </a:r>
                <a:r>
                  <a:rPr lang="es-CO" sz="2400" dirty="0" smtClean="0">
                    <a:latin typeface="Calibri" panose="020F0502020204030204" pitchFamily="34" charset="0"/>
                  </a:rPr>
                  <a:t>perador de </a:t>
                </a:r>
                <a:r>
                  <a:rPr lang="es-CO" sz="2400" dirty="0">
                    <a:latin typeface="Calibri" panose="020F0502020204030204" pitchFamily="34" charset="0"/>
                  </a:rPr>
                  <a:t>segundo orden</a:t>
                </a:r>
                <a:r>
                  <a:rPr lang="es-CO" sz="2400" dirty="0" smtClean="0">
                    <a:latin typeface="Calibri" panose="020F0502020204030204" pitchFamily="34" charset="0"/>
                  </a:rPr>
                  <a:t>, es </a:t>
                </a:r>
                <a:r>
                  <a:rPr lang="es-CO" sz="2400" dirty="0">
                    <a:latin typeface="Calibri" panose="020F0502020204030204" pitchFamily="34" charset="0"/>
                  </a:rPr>
                  <a:t>más provechoso el intercambio de información de cromosomas </a:t>
                </a:r>
                <a:r>
                  <a:rPr lang="es-CO" sz="2400" dirty="0" smtClean="0">
                    <a:latin typeface="Calibri" panose="020F0502020204030204" pitchFamily="34" charset="0"/>
                  </a:rPr>
                  <a:t>en </a:t>
                </a:r>
                <a:r>
                  <a:rPr lang="es-CO" sz="2400" dirty="0">
                    <a:latin typeface="Calibri" panose="020F0502020204030204" pitchFamily="34" charset="0"/>
                  </a:rPr>
                  <a:t>el cruce. </a:t>
                </a:r>
                <a:endParaRPr lang="es-CO" sz="2400" dirty="0" smtClean="0">
                  <a:latin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s-CO" sz="2400" dirty="0">
                    <a:latin typeface="Calibri" panose="020F0502020204030204" pitchFamily="34" charset="0"/>
                  </a:rPr>
                  <a:t>P</a:t>
                </a:r>
                <a:r>
                  <a:rPr lang="es-CO" sz="2400" dirty="0" smtClean="0">
                    <a:latin typeface="Calibri" panose="020F0502020204030204" pitchFamily="34" charset="0"/>
                  </a:rPr>
                  <a:t>ermite explorar </a:t>
                </a:r>
                <a:r>
                  <a:rPr lang="es-CO" sz="2400" dirty="0">
                    <a:latin typeface="Calibri" panose="020F0502020204030204" pitchFamily="34" charset="0"/>
                  </a:rPr>
                  <a:t>otras áreas del espacio de soluciones, </a:t>
                </a:r>
                <a:r>
                  <a:rPr lang="es-CO" sz="2400" dirty="0" smtClean="0">
                    <a:latin typeface="Calibri" panose="020F0502020204030204" pitchFamily="34" charset="0"/>
                  </a:rPr>
                  <a:t>por posibles picos </a:t>
                </a:r>
                <a:r>
                  <a:rPr lang="es-CO" sz="2400" dirty="0">
                    <a:latin typeface="Calibri" panose="020F0502020204030204" pitchFamily="34" charset="0"/>
                  </a:rPr>
                  <a:t>de </a:t>
                </a:r>
                <a:r>
                  <a:rPr lang="es-CO" sz="2400" dirty="0" smtClean="0">
                    <a:latin typeface="Calibri" panose="020F0502020204030204" pitchFamily="34" charset="0"/>
                  </a:rPr>
                  <a:t>optimización.</a:t>
                </a:r>
              </a:p>
              <a:p>
                <a:pPr marL="0" indent="0">
                  <a:buNone/>
                </a:pPr>
                <a:r>
                  <a:rPr lang="es-CO" sz="2400" dirty="0" smtClean="0">
                    <a:latin typeface="Calibri" panose="020F0502020204030204" pitchFamily="34" charset="0"/>
                  </a:rPr>
                  <a:t>En </a:t>
                </a:r>
                <a:r>
                  <a:rPr lang="es-CO" sz="2400" dirty="0">
                    <a:latin typeface="Calibri" panose="020F0502020204030204" pitchFamily="34" charset="0"/>
                  </a:rPr>
                  <a:t>el caso del AGS, con base en una probabilidad, se cambia un 1 por un 0, o viceversa. Este operador se aplica a los individuos con una probabilidad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24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s-CO" sz="2400" b="1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s-CO" sz="2400" b="1" i="1" dirty="0">
                    <a:latin typeface="Calibri" panose="020F0502020204030204" pitchFamily="34" charset="0"/>
                  </a:rPr>
                  <a:t> </a:t>
                </a:r>
                <a:r>
                  <a:rPr lang="es-CO" sz="2400" dirty="0">
                    <a:latin typeface="Calibri" panose="020F0502020204030204" pitchFamily="34" charset="0"/>
                  </a:rPr>
                  <a:t>generalmente baja. </a:t>
                </a:r>
              </a:p>
              <a:p>
                <a:pPr marL="0" indent="0">
                  <a:buNone/>
                </a:pP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45" t="-2306" r="-66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2084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Operadores Genéticos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999" y="1620442"/>
            <a:ext cx="6447501" cy="2910580"/>
          </a:xfrm>
        </p:spPr>
        <p:txBody>
          <a:bodyPr>
            <a:normAutofit/>
          </a:bodyPr>
          <a:lstStyle/>
          <a:p>
            <a:r>
              <a:rPr lang="es-CO" sz="1800" dirty="0" smtClean="0">
                <a:latin typeface="Calibri" panose="020F0502020204030204" pitchFamily="34" charset="0"/>
              </a:rPr>
              <a:t>Mutación</a:t>
            </a:r>
          </a:p>
          <a:p>
            <a:pPr marL="0" indent="0">
              <a:buNone/>
            </a:pPr>
            <a:endParaRPr lang="es-CO" dirty="0" smtClean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407" y="1620442"/>
            <a:ext cx="3394687" cy="267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413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AG Simple AGS</a:t>
            </a:r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, 0s y 1s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latin typeface="Calibri" panose="020F0502020204030204" pitchFamily="34" charset="0"/>
              </a:rPr>
              <a:t>Inicialización aleatoria</a:t>
            </a:r>
          </a:p>
          <a:p>
            <a:r>
              <a:rPr lang="es-CO" sz="2800" dirty="0" smtClean="0">
                <a:latin typeface="Calibri" panose="020F0502020204030204" pitchFamily="34" charset="0"/>
              </a:rPr>
              <a:t>Evaluación de aptitud</a:t>
            </a:r>
          </a:p>
          <a:p>
            <a:r>
              <a:rPr lang="es-CO" sz="2800" dirty="0" smtClean="0">
                <a:latin typeface="Calibri" panose="020F0502020204030204" pitchFamily="34" charset="0"/>
              </a:rPr>
              <a:t>Selección, cruce y mutación</a:t>
            </a:r>
          </a:p>
          <a:p>
            <a:r>
              <a:rPr lang="es-CO" sz="2800" dirty="0" smtClean="0">
                <a:latin typeface="Calibri" panose="020F0502020204030204" pitchFamily="34" charset="0"/>
              </a:rPr>
              <a:t>Reemplazo de población</a:t>
            </a:r>
            <a:endParaRPr lang="es-CO" sz="2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1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Algoritmo Genético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9585" y="859960"/>
            <a:ext cx="3551852" cy="391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41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Ejemplo: Búsqueda de Raíces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latin typeface="Calibri" panose="020F0502020204030204" pitchFamily="34" charset="0"/>
              </a:rPr>
              <a:t>Encuentra la raíz de un polinomio</a:t>
            </a:r>
          </a:p>
          <a:p>
            <a:pPr lvl="1"/>
            <a:r>
              <a:rPr lang="es-CO" sz="2800" dirty="0" smtClean="0">
                <a:latin typeface="Calibri" panose="020F0502020204030204" pitchFamily="34" charset="0"/>
              </a:rPr>
              <a:t>Codificación binaria</a:t>
            </a:r>
          </a:p>
          <a:p>
            <a:pPr lvl="1"/>
            <a:r>
              <a:rPr lang="es-CO" sz="2800" dirty="0" smtClean="0">
                <a:latin typeface="Calibri" panose="020F0502020204030204" pitchFamily="34" charset="0"/>
              </a:rPr>
              <a:t>Optimización de la función</a:t>
            </a:r>
            <a:endParaRPr lang="es-CO" sz="2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540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Codificación y Decodificación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1106" y="1967203"/>
            <a:ext cx="5000625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770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Problemas P y NP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latin typeface="Calibri" panose="020F0502020204030204" pitchFamily="34" charset="0"/>
              </a:rPr>
              <a:t>P: tiempo </a:t>
            </a:r>
            <a:r>
              <a:rPr lang="es-CO" sz="2800" dirty="0" err="1" smtClean="0">
                <a:latin typeface="Calibri" panose="020F0502020204030204" pitchFamily="34" charset="0"/>
              </a:rPr>
              <a:t>polinomial</a:t>
            </a:r>
            <a:endParaRPr lang="es-CO" sz="2800" dirty="0">
              <a:latin typeface="Calibri" panose="020F0502020204030204" pitchFamily="34" charset="0"/>
            </a:endParaRPr>
          </a:p>
          <a:p>
            <a:r>
              <a:rPr lang="es-CO" sz="2800" dirty="0" smtClean="0">
                <a:latin typeface="Calibri" panose="020F0502020204030204" pitchFamily="34" charset="0"/>
              </a:rPr>
              <a:t>NP: tiempo no determinístico</a:t>
            </a:r>
          </a:p>
          <a:p>
            <a:pPr lvl="1"/>
            <a:r>
              <a:rPr lang="es-CO" sz="2800" dirty="0" smtClean="0">
                <a:latin typeface="Calibri" panose="020F0502020204030204" pitchFamily="34" charset="0"/>
              </a:rPr>
              <a:t>Alta complejidad computacional</a:t>
            </a:r>
            <a:endParaRPr lang="es-CO" sz="2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687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Problemas NP-Completos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latin typeface="Calibri" panose="020F0502020204030204" pitchFamily="34" charset="0"/>
              </a:rPr>
              <a:t>Reducción entre problemas NP</a:t>
            </a:r>
          </a:p>
          <a:p>
            <a:pPr lvl="1"/>
            <a:r>
              <a:rPr lang="es-CO" sz="2800" dirty="0" smtClean="0">
                <a:latin typeface="Calibri" panose="020F0502020204030204" pitchFamily="34" charset="0"/>
              </a:rPr>
              <a:t>Ejemplo: Agente viajero</a:t>
            </a:r>
          </a:p>
          <a:p>
            <a:pPr lvl="1"/>
            <a:r>
              <a:rPr lang="es-CO" sz="2800" dirty="0" smtClean="0">
                <a:latin typeface="Calibri" panose="020F0502020204030204" pitchFamily="34" charset="0"/>
              </a:rPr>
              <a:t>Asignación y transporte</a:t>
            </a:r>
            <a:endParaRPr lang="es-CO" sz="2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459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Problema de la Mochila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latin typeface="Calibri" panose="020F0502020204030204" pitchFamily="34" charset="0"/>
              </a:rPr>
              <a:t>Problema clásico NP-Completo</a:t>
            </a:r>
          </a:p>
          <a:p>
            <a:pPr lvl="1"/>
            <a:r>
              <a:rPr lang="es-CO" sz="2800" dirty="0" smtClean="0">
                <a:latin typeface="Calibri" panose="020F0502020204030204" pitchFamily="34" charset="0"/>
              </a:rPr>
              <a:t>Maximizar utilidad</a:t>
            </a:r>
          </a:p>
          <a:p>
            <a:pPr lvl="1"/>
            <a:r>
              <a:rPr lang="es-CO" sz="2800" dirty="0" smtClean="0">
                <a:latin typeface="Calibri" panose="020F0502020204030204" pitchFamily="34" charset="0"/>
              </a:rPr>
              <a:t>Restricción de peso</a:t>
            </a:r>
            <a:endParaRPr lang="es-CO" sz="2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273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CO" sz="2800" smtClean="0">
                <a:solidFill>
                  <a:schemeClr val="accent2">
                    <a:lumMod val="75000"/>
                  </a:schemeClr>
                </a:solidFill>
              </a:rPr>
              <a:t>Problema de la Mochila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572" y="1304925"/>
            <a:ext cx="2962275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651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Diseño de un Algoritmo Genético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latin typeface="Calibri" panose="020F0502020204030204" pitchFamily="34" charset="0"/>
              </a:rPr>
              <a:t>Diseño de un AG</a:t>
            </a:r>
          </a:p>
          <a:p>
            <a:pPr lvl="1"/>
            <a:r>
              <a:rPr lang="es-CO" sz="2800" dirty="0" smtClean="0">
                <a:latin typeface="Calibri" panose="020F0502020204030204" pitchFamily="34" charset="0"/>
              </a:rPr>
              <a:t>Definir el problema</a:t>
            </a:r>
          </a:p>
          <a:p>
            <a:pPr lvl="1"/>
            <a:r>
              <a:rPr lang="es-CO" sz="2800" dirty="0" smtClean="0">
                <a:latin typeface="Calibri" panose="020F0502020204030204" pitchFamily="34" charset="0"/>
              </a:rPr>
              <a:t>Diseñar cromosoma</a:t>
            </a:r>
          </a:p>
          <a:p>
            <a:pPr lvl="1"/>
            <a:r>
              <a:rPr lang="es-CO" sz="2800" dirty="0" smtClean="0">
                <a:latin typeface="Calibri" panose="020F0502020204030204" pitchFamily="34" charset="0"/>
              </a:rPr>
              <a:t>Definir operadores y aptitud</a:t>
            </a:r>
          </a:p>
          <a:p>
            <a:pPr lvl="1"/>
            <a:r>
              <a:rPr lang="es-CO" sz="2800" dirty="0" smtClean="0">
                <a:latin typeface="Calibri" panose="020F0502020204030204" pitchFamily="34" charset="0"/>
              </a:rPr>
              <a:t>Establecer el criterio de parada</a:t>
            </a:r>
            <a:endParaRPr lang="es-CO" sz="2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535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6498" y="1804122"/>
            <a:ext cx="1710839" cy="54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400</TotalTime>
  <Words>429</Words>
  <Application>Microsoft Office PowerPoint</Application>
  <PresentationFormat>Presentación en pantalla (16:9)</PresentationFormat>
  <Paragraphs>91</Paragraphs>
  <Slides>25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1" baseType="lpstr">
      <vt:lpstr>Arial</vt:lpstr>
      <vt:lpstr>Calibri</vt:lpstr>
      <vt:lpstr>Cambria Math</vt:lpstr>
      <vt:lpstr>Trebuchet MS</vt:lpstr>
      <vt:lpstr>Wingdings 3</vt:lpstr>
      <vt:lpstr>Faceta</vt:lpstr>
      <vt:lpstr>Algoritmos Genéticos</vt:lpstr>
      <vt:lpstr>Contexto de IA</vt:lpstr>
      <vt:lpstr>Contexto de IA</vt:lpstr>
      <vt:lpstr>Presentación de PowerPoint</vt:lpstr>
      <vt:lpstr>Introducción a los AGs</vt:lpstr>
      <vt:lpstr>Concepto General de un AG</vt:lpstr>
      <vt:lpstr>Analogía Biológica</vt:lpstr>
      <vt:lpstr>Parámetros Principales</vt:lpstr>
      <vt:lpstr>Operadores Genéticos</vt:lpstr>
      <vt:lpstr>Operadores Genéticos</vt:lpstr>
      <vt:lpstr>Operadores Genéticos</vt:lpstr>
      <vt:lpstr>Operadores Genéticos</vt:lpstr>
      <vt:lpstr>Operadores Genéticos</vt:lpstr>
      <vt:lpstr>Operadores Genéticos</vt:lpstr>
      <vt:lpstr>Operadores Genéticos</vt:lpstr>
      <vt:lpstr>AG Simple AGS, 0s y 1s</vt:lpstr>
      <vt:lpstr>Algoritmo Genético</vt:lpstr>
      <vt:lpstr>Ejemplo: Búsqueda de Raíces</vt:lpstr>
      <vt:lpstr>Codificación y Decodificación</vt:lpstr>
      <vt:lpstr>Problemas P y NP</vt:lpstr>
      <vt:lpstr>Problemas NP-Completos</vt:lpstr>
      <vt:lpstr>Problema de la Mochila</vt:lpstr>
      <vt:lpstr>Presentación de PowerPoint</vt:lpstr>
      <vt:lpstr>Diseño de un Algoritmo Genético</vt:lpstr>
      <vt:lpstr>Presentación de PowerPoint</vt:lpstr>
    </vt:vector>
  </TitlesOfParts>
  <Company>Perplexity AI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usuario pc</cp:lastModifiedBy>
  <cp:revision>68</cp:revision>
  <dcterms:created xsi:type="dcterms:W3CDTF">2026-02-02T17:28:11Z</dcterms:created>
  <dcterms:modified xsi:type="dcterms:W3CDTF">2026-02-09T23:10:30Z</dcterms:modified>
</cp:coreProperties>
</file>